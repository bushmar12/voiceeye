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4"/>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3333333" cy="7500000" type="wide"/>
  <p:notesSz cx="6858000" cy="9144000"/>
  <p:defaultTextStyle>
    <a:defPPr>
      <a:defRPr lang="en-US"/>
    </a:defPPr>
  </p:defaultTextStyle>
</p:presentation>
</file>

<file path=ppt/_rels/presentation.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Master" Target="slideMasters/slideMaster1.xml"/><Relationship Id="rId15" Type="http://schemas.openxmlformats.org/officeDocument/2006/relationships/theme" Target="theme/theme1.xml"/><Relationship Id="rId1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1  |  Budget: 0:30</a:t>
            </a:r>
          </a:p>
          <a:p>
            <a:r>
              <a:t>Hook: 'VoiceEye turns a phone camera into real-time spatial awareness for visually impaired users — everything on-device.' Introduce the group quickly. Mention this is the Sprint 2 demo and we will finish with a live phone demo.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1  |  Budget: 0:20</a:t>
            </a:r>
          </a:p>
          <a:p>
            <a:r>
              <a:t>Name each member and the one area they will cover. Keep it brief — this slide is orientation, not content.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1  |  Budget: 0:40</a:t>
            </a:r>
          </a:p>
          <a:p>
            <a:r>
              <a:t>Anchor the why: scenes change fast, hazards matter most, too much speech causes alert fatigue, and cloud vision raises privacy issues. End with the design constraint on the right: fast enough for hazards, useful enough for context, quiet enough for daily 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1  |  Budget: 0:50</a:t>
            </a:r>
          </a:p>
          <a:p>
            <a:r>
              <a:t>Explain the split: the Fast Lane is always on and announces hazards; the Slow Lane is on-demand and explains the scene. Point out that both lanes share the camera but have different latency targets — roughly 100 ms versus a few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2  |  Budget: 0:50</a:t>
            </a:r>
          </a:p>
          <a:p>
            <a:r>
              <a:t>Walk left-to-right through the top row: COCO/OIv7 data → YOLO26n training → best.onnx → browser runtime → attention → speech/haptics. Mention the bottom row is on-demand Slow Lane via tap or voice. Highlight that the same model file ships to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2  |  Budget: 0:50</a:t>
            </a:r>
          </a:p>
          <a:p>
            <a:r>
              <a:t>Describe the 7 steps but keep it tight: frame in, YOLO out, track IDs kept across frames, distance from bbox height, hazards ranked, cooldowns gate re-announcements, then TTS + vibration. Emphasize this whole loop runs at about 10 fps in-browser.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2  |  Budget: 0:30</a:t>
            </a:r>
          </a:p>
          <a:p>
            <a:r>
              <a:t>Call out headline numbers: best.onnx is 9.4 MB, F1 0.52 at confidence 0.204, mAP50 around 0.50. Be honest: this is a baseline — validation on phone is still pending (covered in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3  |  Budget: 0:40</a:t>
            </a:r>
          </a:p>
          <a:p>
            <a:r>
              <a:t>Explain the four-step flow: trigger, capture a 384 px JPEG, route by prompt mode, hit the VLM backend. Mention we use local Ollama for dev and Cloudflare Workers AI for production — identical API at the front-end.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3  |  Budget: 0:30</a:t>
            </a:r>
          </a:p>
          <a:p>
            <a:r>
              <a:t>Hit each bullet in one breath. Close with the right-side stat boxes: 95 frontend tests passing and production build verified. Transition line: 'Before we show it live, here is what we are still validating.'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3  |  Budget: 0:25</a:t>
            </a:r>
          </a:p>
          <a:p>
            <a:r>
              <a:t>Be upfront: phone FPS and battery data still to measure, VLM quality comparison pending, SpeechRecognition varies by browser, distance estimates are approximate, and the Python test env needs restoring. Honesty builds credibility with the marker.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3  |  Budget: 0:25</a:t>
            </a:r>
          </a:p>
          <a:p>
            <a:r>
              <a:t>Six workstreams for Sprint 3. Keep it to a sentence each. Transition: 'Now let's show it running.'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4  |  Budget: 3:00</a:t>
            </a:r>
          </a:p>
          <a:p>
            <a:r>
              <a:t>Switch to the phone mirror. Run the sequence on the right: camera + bounding boxes → walk toward an object for an approaching alert → 'Voice Eye, describe' → 'Voice Eye, read' → 'Voice Eye, find [object]' → open Settings and change verbosity. If the VLM round-trip fails, fall back to the narrated UI flow and the timeout-handling story. Keep narrating what is happening — the audience cannot always hear the phone's TTS clearly.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Member 4 (all members available)  |  Budget: 1:30</a:t>
            </a:r>
          </a:p>
          <a:p>
            <a:r>
              <a:t>Thank the audience, point to the repo and pages.dev URL on the slide, and open Q&amp;A. Common likely questions: offline support, accuracy numbers, battery impact, why two lanes, data privacy.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3333333" cy="7500000"/>
          </a:xfrm>
          <a:prstGeom prst="rect">
            <a:avLst/>
          </a:prstGeom>
          <a:solidFill>
            <a:srgbClr val="F8FAFC"/>
          </a:solidFill>
          <a:ln>
            <a:noFill/>
          </a:ln>
        </p:spPr>
      </p:sp>
      <p:sp>
        <p:nvSpPr>
          <p:cNvPr id="3" name="Shape 3"/>
          <p:cNvSpPr/>
          <p:nvPr/>
        </p:nvSpPr>
        <p:spPr>
          <a:xfrm>
            <a:off x="0" y="0"/>
            <a:ext cx="145000" cy="7500000"/>
          </a:xfrm>
          <a:prstGeom prst="rect">
            <a:avLst/>
          </a:prstGeom>
          <a:solidFill>
            <a:srgbClr val="0EA5A4"/>
          </a:solidFill>
          <a:ln>
            <a:noFill/>
          </a:ln>
        </p:spPr>
      </p:sp>
      <p:sp>
        <p:nvSpPr>
          <p:cNvPr id="4" name="Shape 4"/>
          <p:cNvSpPr/>
          <p:nvPr/>
        </p:nvSpPr>
        <p:spPr>
          <a:xfrm>
            <a:off x="380000" y="260000"/>
            <a:ext cx="8500000" cy="600000"/>
          </a:xfrm>
          <a:prstGeom prst="rect">
            <a:avLst/>
          </a:prstGeom>
          <a:noFill/>
          <a:ln>
            <a:noFill/>
          </a:ln>
        </p:spPr>
        <p:txBody>
          <a:bodyPr wrap="square" anchor="mid" lIns="152400" tIns="91440" rIns="152400" bIns="91440"/>
          <a:lstStyle/>
          <a:p>
            <a:pPr algn="l"/>
            <a:r>
              <a:rPr lang="en-US" sz="3300" dirty="0" b="1">
                <a:solidFill>
                  <a:srgbClr val="0F172A"/>
                </a:solidFill>
                <a:latin typeface="Aptos"/>
              </a:rPr>
              <a:t>VoiceEye</a:t>
            </a:r>
            <a:endParaRPr lang="en-US" sz="3300"/>
          </a:p>
        </p:txBody>
      </p:sp>
      <p:sp>
        <p:nvSpPr>
          <p:cNvPr id="5" name="Shape 5"/>
          <p:cNvSpPr/>
          <p:nvPr/>
        </p:nvSpPr>
        <p:spPr>
          <a:xfrm>
            <a:off x="400000" y="850000"/>
            <a:ext cx="7600000" cy="380000"/>
          </a:xfrm>
          <a:prstGeom prst="rect">
            <a:avLst/>
          </a:prstGeom>
          <a:noFill/>
          <a:ln>
            <a:noFill/>
          </a:ln>
        </p:spPr>
        <p:txBody>
          <a:bodyPr wrap="square" anchor="mid" lIns="152400" tIns="91440" rIns="152400" bIns="91440"/>
          <a:lstStyle/>
          <a:p>
            <a:pPr algn="l"/>
            <a:r>
              <a:rPr lang="en-US" sz="1850" dirty="0">
                <a:solidFill>
                  <a:srgbClr val="475569"/>
                </a:solidFill>
                <a:latin typeface="Aptos"/>
              </a:rPr>
              <a:t>AI-powered real-time scene awareness for visually impaired users</a:t>
            </a:r>
            <a:endParaRPr lang="en-US" sz="1850"/>
          </a:p>
        </p:txBody>
      </p:sp>
      <p:sp>
        <p:nvSpPr>
          <p:cNvPr id="6" name="Shape 6"/>
          <p:cNvSpPr/>
          <p:nvPr/>
        </p:nvSpPr>
        <p:spPr>
          <a:xfrm>
            <a:off x="400000" y="7130000"/>
            <a:ext cx="5200000" cy="210000"/>
          </a:xfrm>
          <a:prstGeom prst="rect">
            <a:avLst/>
          </a:prstGeom>
          <a:noFill/>
          <a:ln>
            <a:noFill/>
          </a:ln>
        </p:spPr>
        <p:txBody>
          <a:bodyPr wrap="square" anchor="mid" lIns="152400" tIns="91440" rIns="152400" bIns="91440"/>
          <a:lstStyle/>
          <a:p>
            <a:pPr algn="l"/>
            <a:r>
              <a:rPr lang="en-US" sz="1050" dirty="0">
                <a:solidFill>
                  <a:srgbClr val="64748B"/>
                </a:solidFill>
                <a:latin typeface="Aptos"/>
              </a:rPr>
              <a:t>VoiceEye | Sprint 2 Demo</a:t>
            </a:r>
            <a:endParaRPr lang="en-US" sz="1050"/>
          </a:p>
        </p:txBody>
      </p:sp>
      <p:sp>
        <p:nvSpPr>
          <p:cNvPr id="7" name="Shape 7"/>
          <p:cNvSpPr/>
          <p:nvPr/>
        </p:nvSpPr>
        <p:spPr>
          <a:xfrm>
            <a:off x="760000" y="1700000"/>
            <a:ext cx="5200000" cy="2100000"/>
          </a:xfrm>
          <a:prstGeom prst="roundRect">
            <a:avLst/>
          </a:prstGeom>
          <a:solidFill>
            <a:srgbClr val="E0F2FE"/>
          </a:solidFill>
          <a:ln w="12700">
            <a:solidFill>
              <a:srgbClr val="0284C7"/>
            </a:solidFill>
          </a:ln>
        </p:spPr>
        <p:txBody>
          <a:bodyPr wrap="square" anchor="mid" lIns="152400" tIns="91440" rIns="152400" bIns="91440"/>
          <a:lstStyle/>
          <a:p>
            <a:pPr algn="l"/>
            <a:r>
              <a:rPr lang="en-US" sz="2450" dirty="0" b="1">
                <a:solidFill>
                  <a:srgbClr val="0F172A"/>
                </a:solidFill>
                <a:latin typeface="Aptos"/>
              </a:rPr>
              <a:t>Mobile-first assistive vision</a:t>
            </a:r>
            <a:endParaRPr lang="en-US" sz="2450"/>
          </a:p>
          <a:p>
            <a:pPr algn="l"/>
            <a:r>
              <a:rPr lang="en-US" sz="2450" dirty="0" b="1">
                <a:solidFill>
                  <a:srgbClr val="0F172A"/>
                </a:solidFill>
                <a:latin typeface="Aptos"/>
              </a:rPr>
              <a:t>Fast Lane hazard alerts</a:t>
            </a:r>
            <a:endParaRPr lang="en-US" sz="2450"/>
          </a:p>
          <a:p>
            <a:pPr algn="l"/>
            <a:r>
              <a:rPr lang="en-US" sz="2450" dirty="0" b="1">
                <a:solidFill>
                  <a:srgbClr val="0F172A"/>
                </a:solidFill>
                <a:latin typeface="Aptos"/>
              </a:rPr>
              <a:t>Slow Lane scene understanding</a:t>
            </a:r>
            <a:endParaRPr lang="en-US" sz="2450"/>
          </a:p>
          <a:p>
            <a:pPr algn="l"/>
            <a:r>
              <a:rPr lang="en-US" sz="2450" dirty="0" b="1">
                <a:solidFill>
                  <a:srgbClr val="0F172A"/>
                </a:solidFill>
                <a:latin typeface="Aptos"/>
              </a:rPr>
              <a:t>Voice, speech, and haptics</a:t>
            </a:r>
            <a:endParaRPr lang="en-US" sz="2450"/>
          </a:p>
        </p:txBody>
      </p:sp>
      <p:sp>
        <p:nvSpPr>
          <p:cNvPr id="8" name="Shape 8"/>
          <p:cNvSpPr/>
          <p:nvPr/>
        </p:nvSpPr>
        <p:spPr>
          <a:xfrm>
            <a:off x="760000" y="4050000"/>
            <a:ext cx="5200000" cy="700000"/>
          </a:xfrm>
          <a:prstGeom prst="roundRect">
            <a:avLst/>
          </a:prstGeom>
          <a:solidFill>
            <a:srgbClr val="FFFFFF"/>
          </a:solidFill>
          <a:ln w="12700">
            <a:solidFill>
              <a:srgbClr val="CBD5E1"/>
            </a:solidFill>
          </a:ln>
        </p:spPr>
        <p:txBody>
          <a:bodyPr wrap="square" anchor="mid" lIns="152400" tIns="91440" rIns="152400" bIns="91440"/>
          <a:lstStyle/>
          <a:p>
            <a:pPr algn="c"/>
            <a:r>
              <a:rPr lang="en-US" sz="1700" dirty="0" b="1">
                <a:solidFill>
                  <a:srgbClr val="334155"/>
                </a:solidFill>
                <a:latin typeface="Aptos"/>
              </a:rPr>
              <a:t>Sprint 2 Demo  |  10-minute presentation</a:t>
            </a:r>
            <a:endParaRPr lang="en-US" sz="1700"/>
          </a:p>
        </p:txBody>
      </p:sp>
      <p:sp>
        <p:nvSpPr>
          <p:cNvPr id="9" name="Shape 9"/>
          <p:cNvSpPr/>
          <p:nvPr/>
        </p:nvSpPr>
        <p:spPr>
          <a:xfrm>
            <a:off x="6500000" y="1500000"/>
            <a:ext cx="5200000" cy="3400000"/>
          </a:xfrm>
          <a:prstGeom prst="roundRect">
            <a:avLst/>
          </a:prstGeom>
          <a:solidFill>
            <a:srgbClr val="0F172A"/>
          </a:solidFill>
          <a:ln>
            <a:noFill/>
          </a:ln>
        </p:spPr>
      </p:sp>
      <p:sp>
        <p:nvSpPr>
          <p:cNvPr id="10" name="Shape 10"/>
          <p:cNvSpPr/>
          <p:nvPr/>
        </p:nvSpPr>
        <p:spPr>
          <a:xfrm>
            <a:off x="7000000" y="1880000"/>
            <a:ext cx="4100000" cy="650000"/>
          </a:xfrm>
          <a:prstGeom prst="roundRect">
            <a:avLst/>
          </a:prstGeom>
          <a:solidFill>
            <a:srgbClr val="111827"/>
          </a:solidFill>
          <a:ln w="12700">
            <a:solidFill>
              <a:srgbClr val="334155"/>
            </a:solidFill>
          </a:ln>
        </p:spPr>
        <p:txBody>
          <a:bodyPr wrap="square" anchor="mid" lIns="152400" tIns="91440" rIns="152400" bIns="91440"/>
          <a:lstStyle/>
          <a:p>
            <a:pPr algn="c"/>
            <a:r>
              <a:rPr lang="en-US" sz="1850" dirty="0" b="1">
                <a:solidFill>
                  <a:srgbClr val="E5E7EB"/>
                </a:solidFill>
                <a:latin typeface="Aptos"/>
              </a:rPr>
              <a:t>LIVE CAMERA</a:t>
            </a:r>
            <a:endParaRPr lang="en-US" sz="1850"/>
          </a:p>
        </p:txBody>
      </p:sp>
      <p:sp>
        <p:nvSpPr>
          <p:cNvPr id="11" name="Shape 11"/>
          <p:cNvSpPr/>
          <p:nvPr/>
        </p:nvSpPr>
        <p:spPr>
          <a:xfrm>
            <a:off x="7350000" y="2820000"/>
            <a:ext cx="2100000" cy="850000"/>
          </a:xfrm>
          <a:prstGeom prst="roundRect">
            <a:avLst/>
          </a:prstGeom>
          <a:noFill/>
          <a:ln w="28575">
            <a:solidFill>
              <a:srgbClr val="10B981"/>
            </a:solidFill>
          </a:ln>
        </p:spPr>
        <p:txBody>
          <a:bodyPr wrap="square" anchor="mid" lIns="152400" tIns="91440" rIns="152400" bIns="91440"/>
          <a:lstStyle/>
          <a:p>
            <a:pPr algn="c"/>
            <a:r>
              <a:rPr lang="en-US" sz="1700" dirty="0" b="1">
                <a:solidFill>
                  <a:srgbClr val="10B981"/>
                </a:solidFill>
                <a:latin typeface="Aptos"/>
              </a:rPr>
              <a:t>person #3</a:t>
            </a:r>
            <a:endParaRPr lang="en-US" sz="1700"/>
          </a:p>
          <a:p>
            <a:pPr algn="c"/>
            <a:r>
              <a:rPr lang="en-US" sz="1700" dirty="0" b="1">
                <a:solidFill>
                  <a:srgbClr val="10B981"/>
                </a:solidFill>
                <a:latin typeface="Aptos"/>
              </a:rPr>
              <a:t>~1.2m</a:t>
            </a:r>
            <a:endParaRPr lang="en-US" sz="1700"/>
          </a:p>
        </p:txBody>
      </p:sp>
      <p:sp>
        <p:nvSpPr>
          <p:cNvPr id="12" name="Shape 12"/>
          <p:cNvSpPr/>
          <p:nvPr/>
        </p:nvSpPr>
        <p:spPr>
          <a:xfrm>
            <a:off x="9750000" y="2450000"/>
            <a:ext cx="1350000" cy="700000"/>
          </a:xfrm>
          <a:prstGeom prst="roundRect">
            <a:avLst/>
          </a:prstGeom>
          <a:noFill/>
          <a:ln w="28575">
            <a:solidFill>
              <a:srgbClr val="F59E0B"/>
            </a:solidFill>
          </a:ln>
        </p:spPr>
        <p:txBody>
          <a:bodyPr wrap="square" anchor="mid" lIns="152400" tIns="91440" rIns="152400" bIns="91440"/>
          <a:lstStyle/>
          <a:p>
            <a:pPr algn="c"/>
            <a:r>
              <a:rPr lang="en-US" sz="1500" dirty="0" b="1">
                <a:solidFill>
                  <a:srgbClr val="F59E0B"/>
                </a:solidFill>
                <a:latin typeface="Aptos"/>
              </a:rPr>
              <a:t>door #7</a:t>
            </a:r>
            <a:endParaRPr lang="en-US" sz="1500"/>
          </a:p>
          <a:p>
            <a:pPr algn="c"/>
            <a:r>
              <a:rPr lang="en-US" sz="1500" dirty="0" b="1">
                <a:solidFill>
                  <a:srgbClr val="F59E0B"/>
                </a:solidFill>
                <a:latin typeface="Aptos"/>
              </a:rPr>
              <a:t>~2m</a:t>
            </a:r>
            <a:endParaRPr lang="en-US" sz="1500"/>
          </a:p>
        </p:txBody>
      </p:sp>
      <p:sp>
        <p:nvSpPr>
          <p:cNvPr id="13" name="Shape 13"/>
          <p:cNvSpPr/>
          <p:nvPr/>
        </p:nvSpPr>
        <p:spPr>
          <a:xfrm>
            <a:off x="8000000" y="4300000"/>
            <a:ext cx="2500000" cy="360000"/>
          </a:xfrm>
          <a:prstGeom prst="roundRect">
            <a:avLst/>
          </a:prstGeom>
          <a:solidFill>
            <a:srgbClr val="14B8A6"/>
          </a:solidFill>
          <a:ln>
            <a:noFill/>
          </a:ln>
        </p:spPr>
        <p:txBody>
          <a:bodyPr wrap="square" anchor="mid" lIns="152400" tIns="91440" rIns="152400" bIns="91440"/>
          <a:lstStyle/>
          <a:p>
            <a:pPr algn="c"/>
            <a:r>
              <a:rPr lang="en-US" sz="1600" dirty="0" b="1">
                <a:solidFill>
                  <a:srgbClr val="FFFFFF"/>
                </a:solidFill>
                <a:latin typeface="Aptos"/>
              </a:rPr>
              <a:t>Voice Eye, describe</a:t>
            </a:r>
            <a:endParaRPr lang="en-US" sz="1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3333333" cy="7500000"/>
          </a:xfrm>
          <a:prstGeom prst="rect">
            <a:avLst/>
          </a:prstGeom>
          <a:solidFill>
            <a:srgbClr val="F8FAFC"/>
          </a:solidFill>
          <a:ln>
            <a:noFill/>
          </a:ln>
        </p:spPr>
      </p:sp>
      <p:sp>
        <p:nvSpPr>
          <p:cNvPr id="3" name="Shape 3"/>
          <p:cNvSpPr/>
          <p:nvPr/>
        </p:nvSpPr>
        <p:spPr>
          <a:xfrm>
            <a:off x="0" y="0"/>
            <a:ext cx="145000" cy="7500000"/>
          </a:xfrm>
          <a:prstGeom prst="rect">
            <a:avLst/>
          </a:prstGeom>
          <a:solidFill>
            <a:srgbClr val="0EA5A4"/>
          </a:solidFill>
          <a:ln>
            <a:noFill/>
          </a:ln>
        </p:spPr>
      </p:sp>
      <p:sp>
        <p:nvSpPr>
          <p:cNvPr id="4" name="Shape 4"/>
          <p:cNvSpPr/>
          <p:nvPr/>
        </p:nvSpPr>
        <p:spPr>
          <a:xfrm>
            <a:off x="380000" y="260000"/>
            <a:ext cx="8500000" cy="600000"/>
          </a:xfrm>
          <a:prstGeom prst="rect">
            <a:avLst/>
          </a:prstGeom>
          <a:noFill/>
          <a:ln>
            <a:noFill/>
          </a:ln>
        </p:spPr>
        <p:txBody>
          <a:bodyPr wrap="square" anchor="mid" lIns="152400" tIns="91440" rIns="152400" bIns="91440"/>
          <a:lstStyle/>
          <a:p>
            <a:pPr algn="l"/>
            <a:r>
              <a:rPr lang="en-US" sz="3300" dirty="0" b="1">
                <a:solidFill>
                  <a:srgbClr val="0F172A"/>
                </a:solidFill>
                <a:latin typeface="Aptos"/>
              </a:rPr>
              <a:t>Team &amp; Roles</a:t>
            </a:r>
            <a:endParaRPr lang="en-US" sz="3300"/>
          </a:p>
        </p:txBody>
      </p:sp>
      <p:sp>
        <p:nvSpPr>
          <p:cNvPr id="5" name="Shape 5"/>
          <p:cNvSpPr/>
          <p:nvPr/>
        </p:nvSpPr>
        <p:spPr>
          <a:xfrm>
            <a:off x="400000" y="850000"/>
            <a:ext cx="7600000" cy="380000"/>
          </a:xfrm>
          <a:prstGeom prst="rect">
            <a:avLst/>
          </a:prstGeom>
          <a:noFill/>
          <a:ln>
            <a:noFill/>
          </a:ln>
        </p:spPr>
        <p:txBody>
          <a:bodyPr wrap="square" anchor="mid" lIns="152400" tIns="91440" rIns="152400" bIns="91440"/>
          <a:lstStyle/>
          <a:p>
            <a:pPr algn="l"/>
            <a:r>
              <a:rPr lang="en-US" sz="1850" dirty="0">
                <a:solidFill>
                  <a:srgbClr val="475569"/>
                </a:solidFill>
                <a:latin typeface="Aptos"/>
              </a:rPr>
              <a:t>Who is presenting what during the 10-minute demo.</a:t>
            </a:r>
            <a:endParaRPr lang="en-US" sz="1850"/>
          </a:p>
        </p:txBody>
      </p:sp>
      <p:sp>
        <p:nvSpPr>
          <p:cNvPr id="6" name="Shape 6"/>
          <p:cNvSpPr/>
          <p:nvPr/>
        </p:nvSpPr>
        <p:spPr>
          <a:xfrm>
            <a:off x="400000" y="7130000"/>
            <a:ext cx="5200000" cy="210000"/>
          </a:xfrm>
          <a:prstGeom prst="rect">
            <a:avLst/>
          </a:prstGeom>
          <a:noFill/>
          <a:ln>
            <a:noFill/>
          </a:ln>
        </p:spPr>
        <p:txBody>
          <a:bodyPr wrap="square" anchor="mid" lIns="152400" tIns="91440" rIns="152400" bIns="91440"/>
          <a:lstStyle/>
          <a:p>
            <a:pPr algn="l"/>
            <a:r>
              <a:rPr lang="en-US" sz="1050" dirty="0">
                <a:solidFill>
                  <a:srgbClr val="64748B"/>
                </a:solidFill>
                <a:latin typeface="Aptos"/>
              </a:rPr>
              <a:t>VoiceEye | Sprint 2 Demo</a:t>
            </a:r>
            <a:endParaRPr lang="en-US" sz="1050"/>
          </a:p>
        </p:txBody>
      </p:sp>
      <p:sp>
        <p:nvSpPr>
          <p:cNvPr id="7" name="Shape 7"/>
          <p:cNvSpPr/>
          <p:nvPr/>
        </p:nvSpPr>
        <p:spPr>
          <a:xfrm>
            <a:off x="700000" y="1550000"/>
            <a:ext cx="2650000" cy="1500000"/>
          </a:xfrm>
          <a:prstGeom prst="roundRect">
            <a:avLst/>
          </a:prstGeom>
          <a:solidFill>
            <a:srgbClr val="E0F2FE"/>
          </a:solidFill>
          <a:ln w="12700">
            <a:solidFill>
              <a:srgbClr val="0284C7"/>
            </a:solidFill>
          </a:ln>
        </p:spPr>
        <p:txBody>
          <a:bodyPr wrap="square" anchor="mid" lIns="152400" tIns="91440" rIns="152400" bIns="91440"/>
          <a:lstStyle/>
          <a:p>
            <a:pPr algn="c"/>
            <a:r>
              <a:rPr lang="en-US" sz="1850" dirty="0" b="1">
                <a:solidFill>
                  <a:srgbClr val="0F172A"/>
                </a:solidFill>
                <a:latin typeface="Aptos"/>
              </a:rPr>
              <a:t>Member 1</a:t>
            </a:r>
            <a:endParaRPr lang="en-US" sz="1850"/>
          </a:p>
          <a:p>
            <a:pPr algn="c"/>
            <a:r>
              <a:rPr lang="en-US" sz="1850" dirty="0" b="1">
                <a:solidFill>
                  <a:srgbClr val="0F172A"/>
                </a:solidFill>
                <a:latin typeface="Aptos"/>
              </a:rPr>
              <a:t>Problem +</a:t>
            </a:r>
            <a:endParaRPr lang="en-US" sz="1850"/>
          </a:p>
          <a:p>
            <a:pPr algn="c"/>
            <a:r>
              <a:rPr lang="en-US" sz="1850" dirty="0" b="1">
                <a:solidFill>
                  <a:srgbClr val="0F172A"/>
                </a:solidFill>
                <a:latin typeface="Aptos"/>
              </a:rPr>
              <a:t>Architecture</a:t>
            </a:r>
            <a:endParaRPr lang="en-US" sz="1850"/>
          </a:p>
          <a:p>
            <a:pPr algn="c"/>
            <a:r>
              <a:rPr lang="en-US" sz="1850" dirty="0" b="1">
                <a:solidFill>
                  <a:srgbClr val="0F172A"/>
                </a:solidFill>
                <a:latin typeface="Aptos"/>
              </a:rPr>
              <a:t>~1:30</a:t>
            </a:r>
            <a:endParaRPr lang="en-US" sz="1850"/>
          </a:p>
        </p:txBody>
      </p:sp>
      <p:sp>
        <p:nvSpPr>
          <p:cNvPr id="8" name="Shape 8"/>
          <p:cNvSpPr/>
          <p:nvPr/>
        </p:nvSpPr>
        <p:spPr>
          <a:xfrm>
            <a:off x="3500000" y="1550000"/>
            <a:ext cx="2650000" cy="1500000"/>
          </a:xfrm>
          <a:prstGeom prst="roundRect">
            <a:avLst/>
          </a:prstGeom>
          <a:solidFill>
            <a:srgbClr val="FFEDD5"/>
          </a:solidFill>
          <a:ln w="12700">
            <a:solidFill>
              <a:srgbClr val="EA580C"/>
            </a:solidFill>
          </a:ln>
        </p:spPr>
        <p:txBody>
          <a:bodyPr wrap="square" anchor="mid" lIns="152400" tIns="91440" rIns="152400" bIns="91440"/>
          <a:lstStyle/>
          <a:p>
            <a:pPr algn="c"/>
            <a:r>
              <a:rPr lang="en-US" sz="1850" dirty="0" b="1">
                <a:solidFill>
                  <a:srgbClr val="0F172A"/>
                </a:solidFill>
                <a:latin typeface="Aptos"/>
              </a:rPr>
              <a:t>Member 2</a:t>
            </a:r>
            <a:endParaRPr lang="en-US" sz="1850"/>
          </a:p>
          <a:p>
            <a:pPr algn="c"/>
            <a:r>
              <a:rPr lang="en-US" sz="1850" dirty="0" b="1">
                <a:solidFill>
                  <a:srgbClr val="0F172A"/>
                </a:solidFill>
                <a:latin typeface="Aptos"/>
              </a:rPr>
              <a:t>Fast Lane +</a:t>
            </a:r>
            <a:endParaRPr lang="en-US" sz="1850"/>
          </a:p>
          <a:p>
            <a:pPr algn="c"/>
            <a:r>
              <a:rPr lang="en-US" sz="1850" dirty="0" b="1">
                <a:solidFill>
                  <a:srgbClr val="0F172A"/>
                </a:solidFill>
                <a:latin typeface="Aptos"/>
              </a:rPr>
              <a:t>Training</a:t>
            </a:r>
            <a:endParaRPr lang="en-US" sz="1850"/>
          </a:p>
          <a:p>
            <a:pPr algn="c"/>
            <a:r>
              <a:rPr lang="en-US" sz="1850" dirty="0" b="1">
                <a:solidFill>
                  <a:srgbClr val="0F172A"/>
                </a:solidFill>
                <a:latin typeface="Aptos"/>
              </a:rPr>
              <a:t>~2:00</a:t>
            </a:r>
            <a:endParaRPr lang="en-US" sz="1850"/>
          </a:p>
        </p:txBody>
      </p:sp>
      <p:sp>
        <p:nvSpPr>
          <p:cNvPr id="9" name="Shape 9"/>
          <p:cNvSpPr/>
          <p:nvPr/>
        </p:nvSpPr>
        <p:spPr>
          <a:xfrm>
            <a:off x="6300000" y="1550000"/>
            <a:ext cx="2650000" cy="1500000"/>
          </a:xfrm>
          <a:prstGeom prst="roundRect">
            <a:avLst/>
          </a:prstGeom>
          <a:solidFill>
            <a:srgbClr val="EDE9FE"/>
          </a:solidFill>
          <a:ln w="12700">
            <a:solidFill>
              <a:srgbClr val="7C3AED"/>
            </a:solidFill>
          </a:ln>
        </p:spPr>
        <p:txBody>
          <a:bodyPr wrap="square" anchor="mid" lIns="152400" tIns="91440" rIns="152400" bIns="91440"/>
          <a:lstStyle/>
          <a:p>
            <a:pPr algn="c"/>
            <a:r>
              <a:rPr lang="en-US" sz="1850" dirty="0" b="1">
                <a:solidFill>
                  <a:srgbClr val="0F172A"/>
                </a:solidFill>
                <a:latin typeface="Aptos"/>
              </a:rPr>
              <a:t>Member 3</a:t>
            </a:r>
            <a:endParaRPr lang="en-US" sz="1850"/>
          </a:p>
          <a:p>
            <a:pPr algn="c"/>
            <a:r>
              <a:rPr lang="en-US" sz="1850" dirty="0" b="1">
                <a:solidFill>
                  <a:srgbClr val="0F172A"/>
                </a:solidFill>
                <a:latin typeface="Aptos"/>
              </a:rPr>
              <a:t>Slow Lane +</a:t>
            </a:r>
            <a:endParaRPr lang="en-US" sz="1850"/>
          </a:p>
          <a:p>
            <a:pPr algn="c"/>
            <a:r>
              <a:rPr lang="en-US" sz="1850" dirty="0" b="1">
                <a:solidFill>
                  <a:srgbClr val="0F172A"/>
                </a:solidFill>
                <a:latin typeface="Aptos"/>
              </a:rPr>
              <a:t>Voice UX</a:t>
            </a:r>
            <a:endParaRPr lang="en-US" sz="1850"/>
          </a:p>
          <a:p>
            <a:pPr algn="c"/>
            <a:r>
              <a:rPr lang="en-US" sz="1850" dirty="0" b="1">
                <a:solidFill>
                  <a:srgbClr val="0F172A"/>
                </a:solidFill>
                <a:latin typeface="Aptos"/>
              </a:rPr>
              <a:t>~1:30</a:t>
            </a:r>
            <a:endParaRPr lang="en-US" sz="1850"/>
          </a:p>
        </p:txBody>
      </p:sp>
      <p:sp>
        <p:nvSpPr>
          <p:cNvPr id="10" name="Shape 10"/>
          <p:cNvSpPr/>
          <p:nvPr/>
        </p:nvSpPr>
        <p:spPr>
          <a:xfrm>
            <a:off x="9100000" y="1550000"/>
            <a:ext cx="2650000" cy="1500000"/>
          </a:xfrm>
          <a:prstGeom prst="roundRect">
            <a:avLst/>
          </a:prstGeom>
          <a:solidFill>
            <a:srgbClr val="DCFCE7"/>
          </a:solidFill>
          <a:ln w="12700">
            <a:solidFill>
              <a:srgbClr val="16A34A"/>
            </a:solidFill>
          </a:ln>
        </p:spPr>
        <p:txBody>
          <a:bodyPr wrap="square" anchor="mid" lIns="152400" tIns="91440" rIns="152400" bIns="91440"/>
          <a:lstStyle/>
          <a:p>
            <a:pPr algn="c"/>
            <a:r>
              <a:rPr lang="en-US" sz="1850" dirty="0" b="1">
                <a:solidFill>
                  <a:srgbClr val="0F172A"/>
                </a:solidFill>
                <a:latin typeface="Aptos"/>
              </a:rPr>
              <a:t>Member 4</a:t>
            </a:r>
            <a:endParaRPr lang="en-US" sz="1850"/>
          </a:p>
          <a:p>
            <a:pPr algn="c"/>
            <a:r>
              <a:rPr lang="en-US" sz="1850" dirty="0" b="1">
                <a:solidFill>
                  <a:srgbClr val="0F172A"/>
                </a:solidFill>
                <a:latin typeface="Aptos"/>
              </a:rPr>
              <a:t>Live Demo +</a:t>
            </a:r>
            <a:endParaRPr lang="en-US" sz="1850"/>
          </a:p>
          <a:p>
            <a:pPr algn="c"/>
            <a:r>
              <a:rPr lang="en-US" sz="1850" dirty="0" b="1">
                <a:solidFill>
                  <a:srgbClr val="0F172A"/>
                </a:solidFill>
                <a:latin typeface="Aptos"/>
              </a:rPr>
              <a:t>Wrap-up</a:t>
            </a:r>
            <a:endParaRPr lang="en-US" sz="1850"/>
          </a:p>
          <a:p>
            <a:pPr algn="c"/>
            <a:r>
              <a:rPr lang="en-US" sz="1850" dirty="0" b="1">
                <a:solidFill>
                  <a:srgbClr val="0F172A"/>
                </a:solidFill>
                <a:latin typeface="Aptos"/>
              </a:rPr>
              <a:t>~3:00</a:t>
            </a:r>
            <a:endParaRPr lang="en-US" sz="1850"/>
          </a:p>
        </p:txBody>
      </p:sp>
      <p:sp>
        <p:nvSpPr>
          <p:cNvPr id="11" name="Shape 11"/>
          <p:cNvSpPr/>
          <p:nvPr/>
        </p:nvSpPr>
        <p:spPr>
          <a:xfrm>
            <a:off x="900000" y="3350000"/>
            <a:ext cx="11500000" cy="1650000"/>
          </a:xfrm>
          <a:prstGeom prst="roundRect">
            <a:avLst/>
          </a:prstGeom>
          <a:solidFill>
            <a:srgbClr val="FFFFFF"/>
          </a:solidFill>
          <a:ln w="12700">
            <a:solidFill>
              <a:srgbClr val="CBD5E1"/>
            </a:solidFill>
          </a:ln>
        </p:spPr>
        <p:txBody>
          <a:bodyPr wrap="square" anchor="mid" lIns="152400" tIns="91440" rIns="152400" bIns="91440"/>
          <a:lstStyle/>
          <a:p>
            <a:pPr algn="l"/>
            <a:r>
              <a:rPr lang="en-US" sz="1950" dirty="0">
                <a:solidFill>
                  <a:srgbClr val="0F172A"/>
                </a:solidFill>
                <a:latin typeface="Aptos"/>
              </a:rPr>
              <a:t>Intro (all members introduce themselves) — 30 seconds</a:t>
            </a:r>
            <a:endParaRPr lang="en-US" sz="1950"/>
          </a:p>
          <a:p>
            <a:pPr algn="l"/>
            <a:r>
              <a:rPr lang="en-US" sz="1950" dirty="0">
                <a:solidFill>
                  <a:srgbClr val="0F172A"/>
                </a:solidFill>
                <a:latin typeface="Aptos"/>
              </a:rPr>
              <a:t>Content slides — 4 minutes 30 seconds</a:t>
            </a:r>
            <a:endParaRPr lang="en-US" sz="1950"/>
          </a:p>
          <a:p>
            <a:pPr algn="l"/>
            <a:r>
              <a:rPr lang="en-US" sz="1950" dirty="0">
                <a:solidFill>
                  <a:srgbClr val="0F172A"/>
                </a:solidFill>
                <a:latin typeface="Aptos"/>
              </a:rPr>
              <a:t>Live demo on phone — 3 minutes</a:t>
            </a:r>
            <a:endParaRPr lang="en-US" sz="1950"/>
          </a:p>
          <a:p>
            <a:pPr algn="l"/>
            <a:r>
              <a:rPr lang="en-US" sz="1950" dirty="0">
                <a:solidFill>
                  <a:srgbClr val="0F172A"/>
                </a:solidFill>
                <a:latin typeface="Aptos"/>
              </a:rPr>
              <a:t>Wrap-up, limitations, and Q&amp;A — 2 minutes</a:t>
            </a:r>
            <a:endParaRPr lang="en-US" sz="19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3333333" cy="7500000"/>
          </a:xfrm>
          <a:prstGeom prst="rect">
            <a:avLst/>
          </a:prstGeom>
          <a:solidFill>
            <a:srgbClr val="F8FAFC"/>
          </a:solidFill>
          <a:ln>
            <a:noFill/>
          </a:ln>
        </p:spPr>
      </p:sp>
      <p:sp>
        <p:nvSpPr>
          <p:cNvPr id="3" name="Shape 3"/>
          <p:cNvSpPr/>
          <p:nvPr/>
        </p:nvSpPr>
        <p:spPr>
          <a:xfrm>
            <a:off x="0" y="0"/>
            <a:ext cx="145000" cy="7500000"/>
          </a:xfrm>
          <a:prstGeom prst="rect">
            <a:avLst/>
          </a:prstGeom>
          <a:solidFill>
            <a:srgbClr val="0EA5A4"/>
          </a:solidFill>
          <a:ln>
            <a:noFill/>
          </a:ln>
        </p:spPr>
      </p:sp>
      <p:sp>
        <p:nvSpPr>
          <p:cNvPr id="4" name="Shape 4"/>
          <p:cNvSpPr/>
          <p:nvPr/>
        </p:nvSpPr>
        <p:spPr>
          <a:xfrm>
            <a:off x="380000" y="260000"/>
            <a:ext cx="8500000" cy="600000"/>
          </a:xfrm>
          <a:prstGeom prst="rect">
            <a:avLst/>
          </a:prstGeom>
          <a:noFill/>
          <a:ln>
            <a:noFill/>
          </a:ln>
        </p:spPr>
        <p:txBody>
          <a:bodyPr wrap="square" anchor="mid" lIns="152400" tIns="91440" rIns="152400" bIns="91440"/>
          <a:lstStyle/>
          <a:p>
            <a:pPr algn="l"/>
            <a:r>
              <a:rPr lang="en-US" sz="3300" dirty="0" b="1">
                <a:solidFill>
                  <a:srgbClr val="0F172A"/>
                </a:solidFill>
                <a:latin typeface="Aptos"/>
              </a:rPr>
              <a:t>Problem</a:t>
            </a:r>
            <a:endParaRPr lang="en-US" sz="3300"/>
          </a:p>
        </p:txBody>
      </p:sp>
      <p:sp>
        <p:nvSpPr>
          <p:cNvPr id="5" name="Shape 5"/>
          <p:cNvSpPr/>
          <p:nvPr/>
        </p:nvSpPr>
        <p:spPr>
          <a:xfrm>
            <a:off x="400000" y="850000"/>
            <a:ext cx="7600000" cy="380000"/>
          </a:xfrm>
          <a:prstGeom prst="rect">
            <a:avLst/>
          </a:prstGeom>
          <a:noFill/>
          <a:ln>
            <a:noFill/>
          </a:ln>
        </p:spPr>
        <p:txBody>
          <a:bodyPr wrap="square" anchor="mid" lIns="152400" tIns="91440" rIns="152400" bIns="91440"/>
          <a:lstStyle/>
          <a:p>
            <a:pPr algn="l"/>
            <a:r>
              <a:rPr lang="en-US" sz="1850" dirty="0">
                <a:solidFill>
                  <a:srgbClr val="475569"/>
                </a:solidFill>
                <a:latin typeface="Aptos"/>
              </a:rPr>
              <a:t>Visually impaired users need immediate spatial awareness without sacrificing privacy.</a:t>
            </a:r>
            <a:endParaRPr lang="en-US" sz="1850"/>
          </a:p>
        </p:txBody>
      </p:sp>
      <p:sp>
        <p:nvSpPr>
          <p:cNvPr id="6" name="Shape 6"/>
          <p:cNvSpPr/>
          <p:nvPr/>
        </p:nvSpPr>
        <p:spPr>
          <a:xfrm>
            <a:off x="400000" y="7130000"/>
            <a:ext cx="5200000" cy="210000"/>
          </a:xfrm>
          <a:prstGeom prst="rect">
            <a:avLst/>
          </a:prstGeom>
          <a:noFill/>
          <a:ln>
            <a:noFill/>
          </a:ln>
        </p:spPr>
        <p:txBody>
          <a:bodyPr wrap="square" anchor="mid" lIns="152400" tIns="91440" rIns="152400" bIns="91440"/>
          <a:lstStyle/>
          <a:p>
            <a:pPr algn="l"/>
            <a:r>
              <a:rPr lang="en-US" sz="1050" dirty="0">
                <a:solidFill>
                  <a:srgbClr val="64748B"/>
                </a:solidFill>
                <a:latin typeface="Aptos"/>
              </a:rPr>
              <a:t>VoiceEye | Sprint 2 Demo</a:t>
            </a:r>
            <a:endParaRPr lang="en-US" sz="1050"/>
          </a:p>
        </p:txBody>
      </p:sp>
      <p:sp>
        <p:nvSpPr>
          <p:cNvPr id="7" name="Shape 7"/>
          <p:cNvSpPr/>
          <p:nvPr/>
        </p:nvSpPr>
        <p:spPr>
          <a:xfrm>
            <a:off x="700000" y="1500000"/>
            <a:ext cx="6000000" cy="390000"/>
          </a:xfrm>
          <a:prstGeom prst="rect">
            <a:avLst/>
          </a:prstGeom>
          <a:noFill/>
          <a:ln>
            <a:noFill/>
          </a:ln>
        </p:spPr>
        <p:txBody>
          <a:bodyPr wrap="square" anchor="mid" lIns="152400" tIns="91440" rIns="152400" bIns="91440"/>
          <a:lstStyle/>
          <a:p>
            <a:pPr algn="l"/>
            <a:r>
              <a:rPr lang="en-US" sz="1900" dirty="0">
                <a:solidFill>
                  <a:srgbClr val="1E293B"/>
                </a:solidFill>
                <a:latin typeface="Aptos"/>
              </a:rPr>
              <a:t>• Camera scenes change faster than long scene descriptions can be generated.</a:t>
            </a:r>
            <a:endParaRPr lang="en-US" sz="1900"/>
          </a:p>
        </p:txBody>
      </p:sp>
      <p:sp>
        <p:nvSpPr>
          <p:cNvPr id="8" name="Shape 8"/>
          <p:cNvSpPr/>
          <p:nvPr/>
        </p:nvSpPr>
        <p:spPr>
          <a:xfrm>
            <a:off x="700000" y="1980000"/>
            <a:ext cx="6000000" cy="390000"/>
          </a:xfrm>
          <a:prstGeom prst="rect">
            <a:avLst/>
          </a:prstGeom>
          <a:noFill/>
          <a:ln>
            <a:noFill/>
          </a:ln>
        </p:spPr>
        <p:txBody>
          <a:bodyPr wrap="square" anchor="mid" lIns="152400" tIns="91440" rIns="152400" bIns="91440"/>
          <a:lstStyle/>
          <a:p>
            <a:pPr algn="l"/>
            <a:r>
              <a:rPr lang="en-US" sz="1900" dirty="0">
                <a:solidFill>
                  <a:srgbClr val="1E293B"/>
                </a:solidFill>
                <a:latin typeface="Aptos"/>
              </a:rPr>
              <a:t>• Critical hazards must be announced quickly and selectively.</a:t>
            </a:r>
            <a:endParaRPr lang="en-US" sz="1900"/>
          </a:p>
        </p:txBody>
      </p:sp>
      <p:sp>
        <p:nvSpPr>
          <p:cNvPr id="9" name="Shape 9"/>
          <p:cNvSpPr/>
          <p:nvPr/>
        </p:nvSpPr>
        <p:spPr>
          <a:xfrm>
            <a:off x="700000" y="2460000"/>
            <a:ext cx="6000000" cy="390000"/>
          </a:xfrm>
          <a:prstGeom prst="rect">
            <a:avLst/>
          </a:prstGeom>
          <a:noFill/>
          <a:ln>
            <a:noFill/>
          </a:ln>
        </p:spPr>
        <p:txBody>
          <a:bodyPr wrap="square" anchor="mid" lIns="152400" tIns="91440" rIns="152400" bIns="91440"/>
          <a:lstStyle/>
          <a:p>
            <a:pPr algn="l"/>
            <a:r>
              <a:rPr lang="en-US" sz="1900" dirty="0">
                <a:solidFill>
                  <a:srgbClr val="1E293B"/>
                </a:solidFill>
                <a:latin typeface="Aptos"/>
              </a:rPr>
              <a:t>• Too much speech creates cognitive overload and alert fatigue.</a:t>
            </a:r>
            <a:endParaRPr lang="en-US" sz="1900"/>
          </a:p>
        </p:txBody>
      </p:sp>
      <p:sp>
        <p:nvSpPr>
          <p:cNvPr id="10" name="Shape 10"/>
          <p:cNvSpPr/>
          <p:nvPr/>
        </p:nvSpPr>
        <p:spPr>
          <a:xfrm>
            <a:off x="700000" y="2940000"/>
            <a:ext cx="6000000" cy="390000"/>
          </a:xfrm>
          <a:prstGeom prst="rect">
            <a:avLst/>
          </a:prstGeom>
          <a:noFill/>
          <a:ln>
            <a:noFill/>
          </a:ln>
        </p:spPr>
        <p:txBody>
          <a:bodyPr wrap="square" anchor="mid" lIns="152400" tIns="91440" rIns="152400" bIns="91440"/>
          <a:lstStyle/>
          <a:p>
            <a:pPr algn="l"/>
            <a:r>
              <a:rPr lang="en-US" sz="1900" dirty="0">
                <a:solidFill>
                  <a:srgbClr val="1E293B"/>
                </a:solidFill>
                <a:latin typeface="Aptos"/>
              </a:rPr>
              <a:t>• Cloud-only vision can create privacy and connectivity concerns.</a:t>
            </a:r>
            <a:endParaRPr lang="en-US" sz="1900"/>
          </a:p>
        </p:txBody>
      </p:sp>
      <p:sp>
        <p:nvSpPr>
          <p:cNvPr id="11" name="Shape 11"/>
          <p:cNvSpPr/>
          <p:nvPr/>
        </p:nvSpPr>
        <p:spPr>
          <a:xfrm>
            <a:off x="8200000" y="1500000"/>
            <a:ext cx="3500000" cy="850000"/>
          </a:xfrm>
          <a:prstGeom prst="roundRect">
            <a:avLst/>
          </a:prstGeom>
          <a:solidFill>
            <a:srgbClr val="FEE2E2"/>
          </a:solidFill>
          <a:ln w="12700">
            <a:solidFill>
              <a:srgbClr val="EF4444"/>
            </a:solidFill>
          </a:ln>
        </p:spPr>
        <p:txBody>
          <a:bodyPr wrap="square" anchor="mid" lIns="152400" tIns="91440" rIns="152400" bIns="91440"/>
          <a:lstStyle/>
          <a:p>
            <a:pPr algn="c"/>
            <a:r>
              <a:rPr lang="en-US" sz="2100" dirty="0" b="1">
                <a:solidFill>
                  <a:srgbClr val="991B1B"/>
                </a:solidFill>
                <a:latin typeface="Aptos"/>
              </a:rPr>
              <a:t>Design constraint</a:t>
            </a:r>
            <a:endParaRPr lang="en-US" sz="2100"/>
          </a:p>
        </p:txBody>
      </p:sp>
      <p:sp>
        <p:nvSpPr>
          <p:cNvPr id="12" name="Shape 12"/>
          <p:cNvSpPr/>
          <p:nvPr/>
        </p:nvSpPr>
        <p:spPr>
          <a:xfrm>
            <a:off x="7600000" y="2750000"/>
            <a:ext cx="4700000" cy="1800000"/>
          </a:xfrm>
          <a:prstGeom prst="roundRect">
            <a:avLst/>
          </a:prstGeom>
          <a:solidFill>
            <a:srgbClr val="FFFFFF"/>
          </a:solidFill>
          <a:ln w="12700">
            <a:solidFill>
              <a:srgbClr val="CBD5E1"/>
            </a:solidFill>
          </a:ln>
        </p:spPr>
        <p:txBody>
          <a:bodyPr wrap="square" anchor="mid" lIns="152400" tIns="91440" rIns="152400" bIns="91440"/>
          <a:lstStyle/>
          <a:p>
            <a:pPr algn="c"/>
            <a:r>
              <a:rPr lang="en-US" sz="2300" dirty="0" b="1">
                <a:solidFill>
                  <a:srgbClr val="0F172A"/>
                </a:solidFill>
                <a:latin typeface="Aptos"/>
              </a:rPr>
              <a:t>Fast enough for hazards</a:t>
            </a:r>
            <a:endParaRPr lang="en-US" sz="2300"/>
          </a:p>
          <a:p>
            <a:pPr algn="c"/>
            <a:r>
              <a:rPr lang="en-US" sz="2300" dirty="0" b="1">
                <a:solidFill>
                  <a:srgbClr val="0F172A"/>
                </a:solidFill>
                <a:latin typeface="Aptos"/>
              </a:rPr>
              <a:t>Useful enough for context</a:t>
            </a:r>
            <a:endParaRPr lang="en-US" sz="2300"/>
          </a:p>
          <a:p>
            <a:pPr algn="c"/>
            <a:r>
              <a:rPr lang="en-US" sz="2300" dirty="0" b="1">
                <a:solidFill>
                  <a:srgbClr val="0F172A"/>
                </a:solidFill>
                <a:latin typeface="Aptos"/>
              </a:rPr>
              <a:t>Quiet enough for daily use</a:t>
            </a:r>
            <a:endParaRPr lang="en-US" sz="23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3333333" cy="7500000"/>
          </a:xfrm>
          <a:prstGeom prst="rect">
            <a:avLst/>
          </a:prstGeom>
          <a:solidFill>
            <a:srgbClr val="F8FAFC"/>
          </a:solidFill>
          <a:ln>
            <a:noFill/>
          </a:ln>
        </p:spPr>
      </p:sp>
      <p:sp>
        <p:nvSpPr>
          <p:cNvPr id="3" name="Shape 3"/>
          <p:cNvSpPr/>
          <p:nvPr/>
        </p:nvSpPr>
        <p:spPr>
          <a:xfrm>
            <a:off x="0" y="0"/>
            <a:ext cx="145000" cy="7500000"/>
          </a:xfrm>
          <a:prstGeom prst="rect">
            <a:avLst/>
          </a:prstGeom>
          <a:solidFill>
            <a:srgbClr val="0EA5A4"/>
          </a:solidFill>
          <a:ln>
            <a:noFill/>
          </a:ln>
        </p:spPr>
      </p:sp>
      <p:sp>
        <p:nvSpPr>
          <p:cNvPr id="4" name="Shape 4"/>
          <p:cNvSpPr/>
          <p:nvPr/>
        </p:nvSpPr>
        <p:spPr>
          <a:xfrm>
            <a:off x="380000" y="260000"/>
            <a:ext cx="8500000" cy="600000"/>
          </a:xfrm>
          <a:prstGeom prst="rect">
            <a:avLst/>
          </a:prstGeom>
          <a:noFill/>
          <a:ln>
            <a:noFill/>
          </a:ln>
        </p:spPr>
        <p:txBody>
          <a:bodyPr wrap="square" anchor="mid" lIns="152400" tIns="91440" rIns="152400" bIns="91440"/>
          <a:lstStyle/>
          <a:p>
            <a:pPr algn="l"/>
            <a:r>
              <a:rPr lang="en-US" sz="3300" dirty="0" b="1">
                <a:solidFill>
                  <a:srgbClr val="0F172A"/>
                </a:solidFill>
                <a:latin typeface="Aptos"/>
              </a:rPr>
              <a:t>Solution: Two-Lane Architecture</a:t>
            </a:r>
            <a:endParaRPr lang="en-US" sz="3300"/>
          </a:p>
        </p:txBody>
      </p:sp>
      <p:sp>
        <p:nvSpPr>
          <p:cNvPr id="5" name="Shape 5"/>
          <p:cNvSpPr/>
          <p:nvPr/>
        </p:nvSpPr>
        <p:spPr>
          <a:xfrm>
            <a:off x="400000" y="850000"/>
            <a:ext cx="7600000" cy="380000"/>
          </a:xfrm>
          <a:prstGeom prst="rect">
            <a:avLst/>
          </a:prstGeom>
          <a:noFill/>
          <a:ln>
            <a:noFill/>
          </a:ln>
        </p:spPr>
        <p:txBody>
          <a:bodyPr wrap="square" anchor="mid" lIns="152400" tIns="91440" rIns="152400" bIns="91440"/>
          <a:lstStyle/>
          <a:p>
            <a:pPr algn="l"/>
            <a:r>
              <a:rPr lang="en-US" sz="1850" dirty="0">
                <a:solidFill>
                  <a:srgbClr val="475569"/>
                </a:solidFill>
                <a:latin typeface="Aptos"/>
              </a:rPr>
              <a:t>Separate immediate detection from deeper reasoning.</a:t>
            </a:r>
            <a:endParaRPr lang="en-US" sz="1850"/>
          </a:p>
        </p:txBody>
      </p:sp>
      <p:sp>
        <p:nvSpPr>
          <p:cNvPr id="6" name="Shape 6"/>
          <p:cNvSpPr/>
          <p:nvPr/>
        </p:nvSpPr>
        <p:spPr>
          <a:xfrm>
            <a:off x="400000" y="7130000"/>
            <a:ext cx="5200000" cy="210000"/>
          </a:xfrm>
          <a:prstGeom prst="rect">
            <a:avLst/>
          </a:prstGeom>
          <a:noFill/>
          <a:ln>
            <a:noFill/>
          </a:ln>
        </p:spPr>
        <p:txBody>
          <a:bodyPr wrap="square" anchor="mid" lIns="152400" tIns="91440" rIns="152400" bIns="91440"/>
          <a:lstStyle/>
          <a:p>
            <a:pPr algn="l"/>
            <a:r>
              <a:rPr lang="en-US" sz="1050" dirty="0">
                <a:solidFill>
                  <a:srgbClr val="64748B"/>
                </a:solidFill>
                <a:latin typeface="Aptos"/>
              </a:rPr>
              <a:t>VoiceEye | Sprint 2 Demo</a:t>
            </a:r>
            <a:endParaRPr lang="en-US" sz="1050"/>
          </a:p>
        </p:txBody>
      </p:sp>
      <p:cxnSp>
        <p:nvCxnSpPr>
          <p:cNvPr id="7" name="Connector 7"/>
          <p:cNvCxnSpPr/>
          <p:nvPr/>
        </p:nvCxnSpPr>
        <p:spPr>
          <a:xfrm flipV="1">
            <a:off x="3300000" y="1900000"/>
            <a:ext cx="800000" cy="350000"/>
          </a:xfrm>
          <a:prstGeom prst="line">
            <a:avLst/>
          </a:prstGeom>
          <a:ln w="19050">
            <a:solidFill>
              <a:srgbClr val="334155"/>
            </a:solidFill>
            <a:tailEnd type="triangle"/>
          </a:ln>
        </p:spPr>
      </p:cxnSp>
      <p:cxnSp>
        <p:nvCxnSpPr>
          <p:cNvPr id="8" name="Connector 8"/>
          <p:cNvCxnSpPr/>
          <p:nvPr/>
        </p:nvCxnSpPr>
        <p:spPr>
          <a:xfrm>
            <a:off x="3300000" y="2250000"/>
            <a:ext cx="800000" cy="1650000"/>
          </a:xfrm>
          <a:prstGeom prst="line">
            <a:avLst/>
          </a:prstGeom>
          <a:ln w="19050">
            <a:solidFill>
              <a:srgbClr val="334155"/>
            </a:solidFill>
            <a:tailEnd type="triangle"/>
          </a:ln>
        </p:spPr>
      </p:cxnSp>
      <p:cxnSp>
        <p:nvCxnSpPr>
          <p:cNvPr id="9" name="Connector 9"/>
          <p:cNvCxnSpPr/>
          <p:nvPr/>
        </p:nvCxnSpPr>
        <p:spPr>
          <a:xfrm>
            <a:off x="7300000" y="1900000"/>
            <a:ext cx="1300000" cy="1"/>
          </a:xfrm>
          <a:prstGeom prst="line">
            <a:avLst/>
          </a:prstGeom>
          <a:ln w="19050">
            <a:solidFill>
              <a:srgbClr val="334155"/>
            </a:solidFill>
            <a:tailEnd type="triangle"/>
          </a:ln>
        </p:spPr>
      </p:cxnSp>
      <p:cxnSp>
        <p:nvCxnSpPr>
          <p:cNvPr id="10" name="Connector 10"/>
          <p:cNvCxnSpPr/>
          <p:nvPr/>
        </p:nvCxnSpPr>
        <p:spPr>
          <a:xfrm>
            <a:off x="7300000" y="3900000"/>
            <a:ext cx="1300000" cy="1"/>
          </a:xfrm>
          <a:prstGeom prst="line">
            <a:avLst/>
          </a:prstGeom>
          <a:ln w="19050">
            <a:solidFill>
              <a:srgbClr val="334155"/>
            </a:solidFill>
            <a:tailEnd type="triangle"/>
          </a:ln>
        </p:spPr>
      </p:cxnSp>
      <p:sp>
        <p:nvSpPr>
          <p:cNvPr id="11" name="Shape 11"/>
          <p:cNvSpPr/>
          <p:nvPr/>
        </p:nvSpPr>
        <p:spPr>
          <a:xfrm>
            <a:off x="700000" y="1800000"/>
            <a:ext cx="2600000" cy="900000"/>
          </a:xfrm>
          <a:prstGeom prst="roundRect">
            <a:avLst/>
          </a:prstGeom>
          <a:solidFill>
            <a:srgbClr val="DCFCE7"/>
          </a:solidFill>
          <a:ln w="12700">
            <a:solidFill>
              <a:srgbClr val="16A34A"/>
            </a:solidFill>
          </a:ln>
        </p:spPr>
        <p:txBody>
          <a:bodyPr wrap="square" anchor="mid" lIns="152400" tIns="91440" rIns="152400" bIns="91440"/>
          <a:lstStyle/>
          <a:p>
            <a:pPr algn="c"/>
            <a:r>
              <a:rPr lang="en-US" sz="1850" dirty="0" b="1">
                <a:solidFill>
                  <a:srgbClr val="0F172A"/>
                </a:solidFill>
                <a:latin typeface="Aptos"/>
              </a:rPr>
              <a:t>Phone Camera</a:t>
            </a:r>
            <a:endParaRPr lang="en-US" sz="1850"/>
          </a:p>
        </p:txBody>
      </p:sp>
      <p:sp>
        <p:nvSpPr>
          <p:cNvPr id="12" name="Shape 12"/>
          <p:cNvSpPr/>
          <p:nvPr/>
        </p:nvSpPr>
        <p:spPr>
          <a:xfrm>
            <a:off x="4100000" y="1300000"/>
            <a:ext cx="3200000" cy="1200000"/>
          </a:xfrm>
          <a:prstGeom prst="roundRect">
            <a:avLst/>
          </a:prstGeom>
          <a:solidFill>
            <a:srgbClr val="FFEDD5"/>
          </a:solidFill>
          <a:ln w="12700">
            <a:solidFill>
              <a:srgbClr val="EA580C"/>
            </a:solidFill>
          </a:ln>
        </p:spPr>
        <p:txBody>
          <a:bodyPr wrap="square" anchor="mid" lIns="152400" tIns="91440" rIns="152400" bIns="91440"/>
          <a:lstStyle/>
          <a:p>
            <a:pPr algn="c"/>
            <a:r>
              <a:rPr lang="en-US" sz="1750" dirty="0" b="1">
                <a:solidFill>
                  <a:srgbClr val="0F172A"/>
                </a:solidFill>
                <a:latin typeface="Aptos"/>
              </a:rPr>
              <a:t>Fast Lane</a:t>
            </a:r>
            <a:endParaRPr lang="en-US" sz="1750"/>
          </a:p>
          <a:p>
            <a:pPr algn="c"/>
            <a:r>
              <a:rPr lang="en-US" sz="1750" dirty="0" b="1">
                <a:solidFill>
                  <a:srgbClr val="0F172A"/>
                </a:solidFill>
                <a:latin typeface="Aptos"/>
              </a:rPr>
              <a:t>YOLO ONNX + tracking</a:t>
            </a:r>
            <a:endParaRPr lang="en-US" sz="1750"/>
          </a:p>
          <a:p>
            <a:pPr algn="c"/>
            <a:r>
              <a:rPr lang="en-US" sz="1750" dirty="0" b="1">
                <a:solidFill>
                  <a:srgbClr val="0F172A"/>
                </a:solidFill>
                <a:latin typeface="Aptos"/>
              </a:rPr>
              <a:t>~10 fps target</a:t>
            </a:r>
            <a:endParaRPr lang="en-US" sz="1750"/>
          </a:p>
        </p:txBody>
      </p:sp>
      <p:sp>
        <p:nvSpPr>
          <p:cNvPr id="13" name="Shape 13"/>
          <p:cNvSpPr/>
          <p:nvPr/>
        </p:nvSpPr>
        <p:spPr>
          <a:xfrm>
            <a:off x="4100000" y="3300000"/>
            <a:ext cx="3200000" cy="1200000"/>
          </a:xfrm>
          <a:prstGeom prst="roundRect">
            <a:avLst/>
          </a:prstGeom>
          <a:solidFill>
            <a:srgbClr val="EDE9FE"/>
          </a:solidFill>
          <a:ln w="12700">
            <a:solidFill>
              <a:srgbClr val="7C3AED"/>
            </a:solidFill>
          </a:ln>
        </p:spPr>
        <p:txBody>
          <a:bodyPr wrap="square" anchor="mid" lIns="152400" tIns="91440" rIns="152400" bIns="91440"/>
          <a:lstStyle/>
          <a:p>
            <a:pPr algn="c"/>
            <a:r>
              <a:rPr lang="en-US" sz="1750" dirty="0" b="1">
                <a:solidFill>
                  <a:srgbClr val="0F172A"/>
                </a:solidFill>
                <a:latin typeface="Aptos"/>
              </a:rPr>
              <a:t>Slow Lane</a:t>
            </a:r>
            <a:endParaRPr lang="en-US" sz="1750"/>
          </a:p>
          <a:p>
            <a:pPr algn="c"/>
            <a:r>
              <a:rPr lang="en-US" sz="1750" dirty="0" b="1">
                <a:solidFill>
                  <a:srgbClr val="0F172A"/>
                </a:solidFill>
                <a:latin typeface="Aptos"/>
              </a:rPr>
              <a:t>VLM describe/read/find</a:t>
            </a:r>
            <a:endParaRPr lang="en-US" sz="1750"/>
          </a:p>
          <a:p>
            <a:pPr algn="c"/>
            <a:r>
              <a:rPr lang="en-US" sz="1750" dirty="0" b="1">
                <a:solidFill>
                  <a:srgbClr val="0F172A"/>
                </a:solidFill>
                <a:latin typeface="Aptos"/>
              </a:rPr>
              <a:t>on demand</a:t>
            </a:r>
            <a:endParaRPr lang="en-US" sz="1750"/>
          </a:p>
        </p:txBody>
      </p:sp>
      <p:sp>
        <p:nvSpPr>
          <p:cNvPr id="14" name="Shape 14"/>
          <p:cNvSpPr/>
          <p:nvPr/>
        </p:nvSpPr>
        <p:spPr>
          <a:xfrm>
            <a:off x="8600000" y="1300000"/>
            <a:ext cx="3000000" cy="1200000"/>
          </a:xfrm>
          <a:prstGeom prst="roundRect">
            <a:avLst/>
          </a:prstGeom>
          <a:solidFill>
            <a:srgbClr val="E0F2FE"/>
          </a:solidFill>
          <a:ln w="12700">
            <a:solidFill>
              <a:srgbClr val="0284C7"/>
            </a:solidFill>
          </a:ln>
        </p:spPr>
        <p:txBody>
          <a:bodyPr wrap="square" anchor="mid" lIns="152400" tIns="91440" rIns="152400" bIns="91440"/>
          <a:lstStyle/>
          <a:p>
            <a:pPr algn="c"/>
            <a:r>
              <a:rPr lang="en-US" sz="1750" dirty="0" b="1">
                <a:solidFill>
                  <a:srgbClr val="0F172A"/>
                </a:solidFill>
                <a:latin typeface="Aptos"/>
              </a:rPr>
              <a:t>Immediate Output</a:t>
            </a:r>
            <a:endParaRPr lang="en-US" sz="1750"/>
          </a:p>
          <a:p>
            <a:pPr algn="c"/>
            <a:r>
              <a:rPr lang="en-US" sz="1750" dirty="0" b="1">
                <a:solidFill>
                  <a:srgbClr val="0F172A"/>
                </a:solidFill>
                <a:latin typeface="Aptos"/>
              </a:rPr>
              <a:t>speech, haptics,</a:t>
            </a:r>
            <a:endParaRPr lang="en-US" sz="1750"/>
          </a:p>
          <a:p>
            <a:pPr algn="c"/>
            <a:r>
              <a:rPr lang="en-US" sz="1750" dirty="0" b="1">
                <a:solidFill>
                  <a:srgbClr val="0F172A"/>
                </a:solidFill>
                <a:latin typeface="Aptos"/>
              </a:rPr>
              <a:t>bounding boxes</a:t>
            </a:r>
            <a:endParaRPr lang="en-US" sz="1750"/>
          </a:p>
        </p:txBody>
      </p:sp>
      <p:sp>
        <p:nvSpPr>
          <p:cNvPr id="15" name="Shape 15"/>
          <p:cNvSpPr/>
          <p:nvPr/>
        </p:nvSpPr>
        <p:spPr>
          <a:xfrm>
            <a:off x="8600000" y="3300000"/>
            <a:ext cx="3000000" cy="1200000"/>
          </a:xfrm>
          <a:prstGeom prst="roundRect">
            <a:avLst/>
          </a:prstGeom>
          <a:solidFill>
            <a:srgbClr val="FCE7F3"/>
          </a:solidFill>
          <a:ln w="12700">
            <a:solidFill>
              <a:srgbClr val="DB2777"/>
            </a:solidFill>
          </a:ln>
        </p:spPr>
        <p:txBody>
          <a:bodyPr wrap="square" anchor="mid" lIns="152400" tIns="91440" rIns="152400" bIns="91440"/>
          <a:lstStyle/>
          <a:p>
            <a:pPr algn="c"/>
            <a:r>
              <a:rPr lang="en-US" sz="1750" dirty="0" b="1">
                <a:solidFill>
                  <a:srgbClr val="0F172A"/>
                </a:solidFill>
                <a:latin typeface="Aptos"/>
              </a:rPr>
              <a:t>Context Output</a:t>
            </a:r>
            <a:endParaRPr lang="en-US" sz="1750"/>
          </a:p>
          <a:p>
            <a:pPr algn="c"/>
            <a:r>
              <a:rPr lang="en-US" sz="1750" dirty="0" b="1">
                <a:solidFill>
                  <a:srgbClr val="0F172A"/>
                </a:solidFill>
                <a:latin typeface="Aptos"/>
              </a:rPr>
              <a:t>scene summary,</a:t>
            </a:r>
            <a:endParaRPr lang="en-US" sz="1750"/>
          </a:p>
          <a:p>
            <a:pPr algn="c"/>
            <a:r>
              <a:rPr lang="en-US" sz="1750" dirty="0" b="1">
                <a:solidFill>
                  <a:srgbClr val="0F172A"/>
                </a:solidFill>
                <a:latin typeface="Aptos"/>
              </a:rPr>
              <a:t>OCR, object location</a:t>
            </a:r>
            <a:endParaRPr lang="en-US" sz="17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3333333" cy="7500000"/>
          </a:xfrm>
          <a:prstGeom prst="rect">
            <a:avLst/>
          </a:prstGeom>
          <a:solidFill>
            <a:srgbClr val="F8FAFC"/>
          </a:solidFill>
          <a:ln>
            <a:noFill/>
          </a:ln>
        </p:spPr>
      </p:sp>
      <p:sp>
        <p:nvSpPr>
          <p:cNvPr id="3" name="Shape 3"/>
          <p:cNvSpPr/>
          <p:nvPr/>
        </p:nvSpPr>
        <p:spPr>
          <a:xfrm>
            <a:off x="0" y="0"/>
            <a:ext cx="145000" cy="7500000"/>
          </a:xfrm>
          <a:prstGeom prst="rect">
            <a:avLst/>
          </a:prstGeom>
          <a:solidFill>
            <a:srgbClr val="0EA5A4"/>
          </a:solidFill>
          <a:ln>
            <a:noFill/>
          </a:ln>
        </p:spPr>
      </p:sp>
      <p:sp>
        <p:nvSpPr>
          <p:cNvPr id="4" name="Shape 4"/>
          <p:cNvSpPr/>
          <p:nvPr/>
        </p:nvSpPr>
        <p:spPr>
          <a:xfrm>
            <a:off x="380000" y="260000"/>
            <a:ext cx="8500000" cy="600000"/>
          </a:xfrm>
          <a:prstGeom prst="rect">
            <a:avLst/>
          </a:prstGeom>
          <a:noFill/>
          <a:ln>
            <a:noFill/>
          </a:ln>
        </p:spPr>
        <p:txBody>
          <a:bodyPr wrap="square" anchor="mid" lIns="152400" tIns="91440" rIns="152400" bIns="91440"/>
          <a:lstStyle/>
          <a:p>
            <a:pPr algn="l"/>
            <a:r>
              <a:rPr lang="en-US" sz="3300" dirty="0" b="1">
                <a:solidFill>
                  <a:srgbClr val="0F172A"/>
                </a:solidFill>
                <a:latin typeface="Aptos"/>
              </a:rPr>
              <a:t>Full Pipeline</a:t>
            </a:r>
            <a:endParaRPr lang="en-US" sz="3300"/>
          </a:p>
        </p:txBody>
      </p:sp>
      <p:sp>
        <p:nvSpPr>
          <p:cNvPr id="5" name="Shape 5"/>
          <p:cNvSpPr/>
          <p:nvPr/>
        </p:nvSpPr>
        <p:spPr>
          <a:xfrm>
            <a:off x="400000" y="850000"/>
            <a:ext cx="7600000" cy="380000"/>
          </a:xfrm>
          <a:prstGeom prst="rect">
            <a:avLst/>
          </a:prstGeom>
          <a:noFill/>
          <a:ln>
            <a:noFill/>
          </a:ln>
        </p:spPr>
        <p:txBody>
          <a:bodyPr wrap="square" anchor="mid" lIns="152400" tIns="91440" rIns="152400" bIns="91440"/>
          <a:lstStyle/>
          <a:p>
            <a:pPr algn="l"/>
            <a:r>
              <a:rPr lang="en-US" sz="1850" dirty="0">
                <a:solidFill>
                  <a:srgbClr val="475569"/>
                </a:solidFill>
                <a:latin typeface="Aptos"/>
              </a:rPr>
              <a:t>From dataset to trained model to accessible phone feedback.</a:t>
            </a:r>
            <a:endParaRPr lang="en-US" sz="1850"/>
          </a:p>
        </p:txBody>
      </p:sp>
      <p:sp>
        <p:nvSpPr>
          <p:cNvPr id="6" name="Shape 6"/>
          <p:cNvSpPr/>
          <p:nvPr/>
        </p:nvSpPr>
        <p:spPr>
          <a:xfrm>
            <a:off x="400000" y="7130000"/>
            <a:ext cx="5200000" cy="210000"/>
          </a:xfrm>
          <a:prstGeom prst="rect">
            <a:avLst/>
          </a:prstGeom>
          <a:noFill/>
          <a:ln>
            <a:noFill/>
          </a:ln>
        </p:spPr>
        <p:txBody>
          <a:bodyPr wrap="square" anchor="mid" lIns="152400" tIns="91440" rIns="152400" bIns="91440"/>
          <a:lstStyle/>
          <a:p>
            <a:pPr algn="l"/>
            <a:r>
              <a:rPr lang="en-US" sz="1050" dirty="0">
                <a:solidFill>
                  <a:srgbClr val="64748B"/>
                </a:solidFill>
                <a:latin typeface="Aptos"/>
              </a:rPr>
              <a:t>VoiceEye | Sprint 2 Demo</a:t>
            </a:r>
            <a:endParaRPr lang="en-US" sz="1050"/>
          </a:p>
        </p:txBody>
      </p:sp>
      <p:cxnSp>
        <p:nvCxnSpPr>
          <p:cNvPr id="7" name="Connector 7"/>
          <p:cNvCxnSpPr/>
          <p:nvPr/>
        </p:nvCxnSpPr>
        <p:spPr>
          <a:xfrm>
            <a:off x="2320000" y="2130000"/>
            <a:ext cx="380000" cy="1"/>
          </a:xfrm>
          <a:prstGeom prst="line">
            <a:avLst/>
          </a:prstGeom>
          <a:ln w="19050">
            <a:solidFill>
              <a:srgbClr val="334155"/>
            </a:solidFill>
            <a:tailEnd type="triangle"/>
          </a:ln>
        </p:spPr>
      </p:cxnSp>
      <p:cxnSp>
        <p:nvCxnSpPr>
          <p:cNvPr id="8" name="Connector 8"/>
          <p:cNvCxnSpPr/>
          <p:nvPr/>
        </p:nvCxnSpPr>
        <p:spPr>
          <a:xfrm>
            <a:off x="4500000" y="2130000"/>
            <a:ext cx="380000" cy="1"/>
          </a:xfrm>
          <a:prstGeom prst="line">
            <a:avLst/>
          </a:prstGeom>
          <a:ln w="19050">
            <a:solidFill>
              <a:srgbClr val="334155"/>
            </a:solidFill>
            <a:tailEnd type="triangle"/>
          </a:ln>
        </p:spPr>
      </p:cxnSp>
      <p:cxnSp>
        <p:nvCxnSpPr>
          <p:cNvPr id="9" name="Connector 9"/>
          <p:cNvCxnSpPr/>
          <p:nvPr/>
        </p:nvCxnSpPr>
        <p:spPr>
          <a:xfrm>
            <a:off x="6680000" y="2130000"/>
            <a:ext cx="400000" cy="1"/>
          </a:xfrm>
          <a:prstGeom prst="line">
            <a:avLst/>
          </a:prstGeom>
          <a:ln w="19050">
            <a:solidFill>
              <a:srgbClr val="334155"/>
            </a:solidFill>
            <a:tailEnd type="triangle"/>
          </a:ln>
        </p:spPr>
      </p:cxnSp>
      <p:cxnSp>
        <p:nvCxnSpPr>
          <p:cNvPr id="10" name="Connector 10"/>
          <p:cNvCxnSpPr/>
          <p:nvPr/>
        </p:nvCxnSpPr>
        <p:spPr>
          <a:xfrm>
            <a:off x="8880000" y="2130000"/>
            <a:ext cx="400000" cy="1"/>
          </a:xfrm>
          <a:prstGeom prst="line">
            <a:avLst/>
          </a:prstGeom>
          <a:ln w="19050">
            <a:solidFill>
              <a:srgbClr val="334155"/>
            </a:solidFill>
            <a:tailEnd type="triangle"/>
          </a:ln>
        </p:spPr>
      </p:cxnSp>
      <p:cxnSp>
        <p:nvCxnSpPr>
          <p:cNvPr id="11" name="Connector 11"/>
          <p:cNvCxnSpPr/>
          <p:nvPr/>
        </p:nvCxnSpPr>
        <p:spPr>
          <a:xfrm>
            <a:off x="11080000" y="2130000"/>
            <a:ext cx="400000" cy="1"/>
          </a:xfrm>
          <a:prstGeom prst="line">
            <a:avLst/>
          </a:prstGeom>
          <a:ln w="19050">
            <a:solidFill>
              <a:srgbClr val="334155"/>
            </a:solidFill>
            <a:tailEnd type="triangle"/>
          </a:ln>
        </p:spPr>
      </p:cxnSp>
      <p:cxnSp>
        <p:nvCxnSpPr>
          <p:cNvPr id="12" name="Connector 12"/>
          <p:cNvCxnSpPr/>
          <p:nvPr/>
        </p:nvCxnSpPr>
        <p:spPr>
          <a:xfrm>
            <a:off x="7730000" y="2510000"/>
            <a:ext cx="1" cy="990000"/>
          </a:xfrm>
          <a:prstGeom prst="line">
            <a:avLst/>
          </a:prstGeom>
          <a:ln w="19050">
            <a:solidFill>
              <a:srgbClr val="334155"/>
            </a:solidFill>
            <a:tailEnd type="triangle"/>
          </a:ln>
        </p:spPr>
      </p:cxnSp>
      <p:cxnSp>
        <p:nvCxnSpPr>
          <p:cNvPr id="13" name="Connector 13"/>
          <p:cNvCxnSpPr/>
          <p:nvPr/>
        </p:nvCxnSpPr>
        <p:spPr>
          <a:xfrm>
            <a:off x="8880000" y="3880000"/>
            <a:ext cx="400000" cy="1"/>
          </a:xfrm>
          <a:prstGeom prst="line">
            <a:avLst/>
          </a:prstGeom>
          <a:ln w="19050">
            <a:solidFill>
              <a:srgbClr val="334155"/>
            </a:solidFill>
            <a:tailEnd type="triangle"/>
          </a:ln>
        </p:spPr>
      </p:cxnSp>
      <p:cxnSp>
        <p:nvCxnSpPr>
          <p:cNvPr id="14" name="Connector 14"/>
          <p:cNvCxnSpPr/>
          <p:nvPr/>
        </p:nvCxnSpPr>
        <p:spPr>
          <a:xfrm>
            <a:off x="11080000" y="3880000"/>
            <a:ext cx="400000" cy="1"/>
          </a:xfrm>
          <a:prstGeom prst="line">
            <a:avLst/>
          </a:prstGeom>
          <a:ln w="19050">
            <a:solidFill>
              <a:srgbClr val="334155"/>
            </a:solidFill>
            <a:tailEnd type="triangle"/>
          </a:ln>
        </p:spPr>
      </p:cxnSp>
      <p:sp>
        <p:nvSpPr>
          <p:cNvPr id="15" name="Shape 15"/>
          <p:cNvSpPr/>
          <p:nvPr/>
        </p:nvSpPr>
        <p:spPr>
          <a:xfrm>
            <a:off x="520000" y="1750000"/>
            <a:ext cx="1800000" cy="760000"/>
          </a:xfrm>
          <a:prstGeom prst="roundRect">
            <a:avLst/>
          </a:prstGeom>
          <a:solidFill>
            <a:srgbClr val="EFF6FF"/>
          </a:solidFill>
          <a:ln w="12700">
            <a:solidFill>
              <a:srgbClr val="2563EB"/>
            </a:solidFill>
          </a:ln>
        </p:spPr>
        <p:txBody>
          <a:bodyPr wrap="square" anchor="mid" lIns="152400" tIns="91440" rIns="152400" bIns="91440"/>
          <a:lstStyle/>
          <a:p>
            <a:pPr algn="c"/>
            <a:r>
              <a:rPr lang="en-US" sz="1650" dirty="0">
                <a:solidFill>
                  <a:srgbClr val="0F172A"/>
                </a:solidFill>
                <a:latin typeface="Aptos"/>
              </a:rPr>
              <a:t>Datasets</a:t>
            </a:r>
            <a:endParaRPr lang="en-US" sz="1650"/>
          </a:p>
          <a:p>
            <a:pPr algn="c"/>
            <a:r>
              <a:rPr lang="en-US" sz="1650" dirty="0">
                <a:solidFill>
                  <a:srgbClr val="0F172A"/>
                </a:solidFill>
                <a:latin typeface="Aptos"/>
              </a:rPr>
              <a:t>COCO + OIv7</a:t>
            </a:r>
            <a:endParaRPr lang="en-US" sz="1650"/>
          </a:p>
          <a:p>
            <a:pPr algn="c"/>
            <a:r>
              <a:rPr lang="en-US" sz="1650" dirty="0">
                <a:solidFill>
                  <a:srgbClr val="0F172A"/>
                </a:solidFill>
                <a:latin typeface="Aptos"/>
              </a:rPr>
              <a:t>Mapillary optional</a:t>
            </a:r>
            <a:endParaRPr lang="en-US" sz="1650"/>
          </a:p>
        </p:txBody>
      </p:sp>
      <p:sp>
        <p:nvSpPr>
          <p:cNvPr id="16" name="Shape 16"/>
          <p:cNvSpPr/>
          <p:nvPr/>
        </p:nvSpPr>
        <p:spPr>
          <a:xfrm>
            <a:off x="2700000" y="1750000"/>
            <a:ext cx="1800000" cy="760000"/>
          </a:xfrm>
          <a:prstGeom prst="roundRect">
            <a:avLst/>
          </a:prstGeom>
          <a:solidFill>
            <a:srgbClr val="EFF6FF"/>
          </a:solidFill>
          <a:ln w="12700">
            <a:solidFill>
              <a:srgbClr val="2563EB"/>
            </a:solidFill>
          </a:ln>
        </p:spPr>
        <p:txBody>
          <a:bodyPr wrap="square" anchor="mid" lIns="152400" tIns="91440" rIns="152400" bIns="91440"/>
          <a:lstStyle/>
          <a:p>
            <a:pPr algn="c"/>
            <a:r>
              <a:rPr lang="en-US" sz="1650" dirty="0">
                <a:solidFill>
                  <a:srgbClr val="0F172A"/>
                </a:solidFill>
                <a:latin typeface="Aptos"/>
              </a:rPr>
              <a:t>Training</a:t>
            </a:r>
            <a:endParaRPr lang="en-US" sz="1650"/>
          </a:p>
          <a:p>
            <a:pPr algn="c"/>
            <a:r>
              <a:rPr lang="en-US" sz="1650" dirty="0">
                <a:solidFill>
                  <a:srgbClr val="0F172A"/>
                </a:solidFill>
                <a:latin typeface="Aptos"/>
              </a:rPr>
              <a:t>YOLO26n</a:t>
            </a:r>
            <a:endParaRPr lang="en-US" sz="1650"/>
          </a:p>
          <a:p>
            <a:pPr algn="c"/>
            <a:r>
              <a:rPr lang="en-US" sz="1650" dirty="0">
                <a:solidFill>
                  <a:srgbClr val="0F172A"/>
                </a:solidFill>
                <a:latin typeface="Aptos"/>
              </a:rPr>
              <a:t>300 epochs</a:t>
            </a:r>
            <a:endParaRPr lang="en-US" sz="1650"/>
          </a:p>
        </p:txBody>
      </p:sp>
      <p:sp>
        <p:nvSpPr>
          <p:cNvPr id="17" name="Shape 17"/>
          <p:cNvSpPr/>
          <p:nvPr/>
        </p:nvSpPr>
        <p:spPr>
          <a:xfrm>
            <a:off x="4880000" y="1750000"/>
            <a:ext cx="1800000" cy="760000"/>
          </a:xfrm>
          <a:prstGeom prst="roundRect">
            <a:avLst/>
          </a:prstGeom>
          <a:solidFill>
            <a:srgbClr val="EFF6FF"/>
          </a:solidFill>
          <a:ln w="12700">
            <a:solidFill>
              <a:srgbClr val="2563EB"/>
            </a:solidFill>
          </a:ln>
        </p:spPr>
        <p:txBody>
          <a:bodyPr wrap="square" anchor="mid" lIns="152400" tIns="91440" rIns="152400" bIns="91440"/>
          <a:lstStyle/>
          <a:p>
            <a:pPr algn="c"/>
            <a:r>
              <a:rPr lang="en-US" sz="1650" dirty="0">
                <a:solidFill>
                  <a:srgbClr val="0F172A"/>
                </a:solidFill>
                <a:latin typeface="Aptos"/>
              </a:rPr>
              <a:t>Export</a:t>
            </a:r>
            <a:endParaRPr lang="en-US" sz="1650"/>
          </a:p>
          <a:p>
            <a:pPr algn="c"/>
            <a:r>
              <a:rPr lang="en-US" sz="1650" dirty="0">
                <a:solidFill>
                  <a:srgbClr val="0F172A"/>
                </a:solidFill>
                <a:latin typeface="Aptos"/>
              </a:rPr>
              <a:t>best.onnx</a:t>
            </a:r>
            <a:endParaRPr lang="en-US" sz="1650"/>
          </a:p>
          <a:p>
            <a:pPr algn="c"/>
            <a:r>
              <a:rPr lang="en-US" sz="1650" dirty="0">
                <a:solidFill>
                  <a:srgbClr val="0F172A"/>
                </a:solidFill>
                <a:latin typeface="Aptos"/>
              </a:rPr>
              <a:t>9.4 MB</a:t>
            </a:r>
            <a:endParaRPr lang="en-US" sz="1650"/>
          </a:p>
        </p:txBody>
      </p:sp>
      <p:sp>
        <p:nvSpPr>
          <p:cNvPr id="18" name="Shape 18"/>
          <p:cNvSpPr/>
          <p:nvPr/>
        </p:nvSpPr>
        <p:spPr>
          <a:xfrm>
            <a:off x="7080000" y="1750000"/>
            <a:ext cx="1800000" cy="760000"/>
          </a:xfrm>
          <a:prstGeom prst="roundRect">
            <a:avLst/>
          </a:prstGeom>
          <a:solidFill>
            <a:srgbClr val="FFF7ED"/>
          </a:solidFill>
          <a:ln w="12700">
            <a:solidFill>
              <a:srgbClr val="EA580C"/>
            </a:solidFill>
          </a:ln>
        </p:spPr>
        <p:txBody>
          <a:bodyPr wrap="square" anchor="mid" lIns="152400" tIns="91440" rIns="152400" bIns="91440"/>
          <a:lstStyle/>
          <a:p>
            <a:pPr algn="c"/>
            <a:r>
              <a:rPr lang="en-US" sz="1650" dirty="0">
                <a:solidFill>
                  <a:srgbClr val="0F172A"/>
                </a:solidFill>
                <a:latin typeface="Aptos"/>
              </a:rPr>
              <a:t>Browser</a:t>
            </a:r>
            <a:endParaRPr lang="en-US" sz="1650"/>
          </a:p>
          <a:p>
            <a:pPr algn="c"/>
            <a:r>
              <a:rPr lang="en-US" sz="1650" dirty="0">
                <a:solidFill>
                  <a:srgbClr val="0F172A"/>
                </a:solidFill>
                <a:latin typeface="Aptos"/>
              </a:rPr>
              <a:t>ONNX Runtime</a:t>
            </a:r>
            <a:endParaRPr lang="en-US" sz="1650"/>
          </a:p>
          <a:p>
            <a:pPr algn="c"/>
            <a:r>
              <a:rPr lang="en-US" sz="1650" dirty="0">
                <a:solidFill>
                  <a:srgbClr val="0F172A"/>
                </a:solidFill>
                <a:latin typeface="Aptos"/>
              </a:rPr>
              <a:t>Fast Lane</a:t>
            </a:r>
            <a:endParaRPr lang="en-US" sz="1650"/>
          </a:p>
        </p:txBody>
      </p:sp>
      <p:sp>
        <p:nvSpPr>
          <p:cNvPr id="19" name="Shape 19"/>
          <p:cNvSpPr/>
          <p:nvPr/>
        </p:nvSpPr>
        <p:spPr>
          <a:xfrm>
            <a:off x="9280000" y="1750000"/>
            <a:ext cx="1800000" cy="760000"/>
          </a:xfrm>
          <a:prstGeom prst="roundRect">
            <a:avLst/>
          </a:prstGeom>
          <a:solidFill>
            <a:srgbClr val="FFF7ED"/>
          </a:solidFill>
          <a:ln w="12700">
            <a:solidFill>
              <a:srgbClr val="EA580C"/>
            </a:solidFill>
          </a:ln>
        </p:spPr>
        <p:txBody>
          <a:bodyPr wrap="square" anchor="mid" lIns="152400" tIns="91440" rIns="152400" bIns="91440"/>
          <a:lstStyle/>
          <a:p>
            <a:pPr algn="c"/>
            <a:r>
              <a:rPr lang="en-US" sz="1650" dirty="0">
                <a:solidFill>
                  <a:srgbClr val="0F172A"/>
                </a:solidFill>
                <a:latin typeface="Aptos"/>
              </a:rPr>
              <a:t>Attention</a:t>
            </a:r>
            <a:endParaRPr lang="en-US" sz="1650"/>
          </a:p>
          <a:p>
            <a:pPr algn="c"/>
            <a:r>
              <a:rPr lang="en-US" sz="1650" dirty="0">
                <a:solidFill>
                  <a:srgbClr val="0F172A"/>
                </a:solidFill>
                <a:latin typeface="Aptos"/>
              </a:rPr>
              <a:t>tracking, zones,</a:t>
            </a:r>
            <a:endParaRPr lang="en-US" sz="1650"/>
          </a:p>
          <a:p>
            <a:pPr algn="c"/>
            <a:r>
              <a:rPr lang="en-US" sz="1650" dirty="0">
                <a:solidFill>
                  <a:srgbClr val="0F172A"/>
                </a:solidFill>
                <a:latin typeface="Aptos"/>
              </a:rPr>
              <a:t>budget</a:t>
            </a:r>
            <a:endParaRPr lang="en-US" sz="1650"/>
          </a:p>
        </p:txBody>
      </p:sp>
      <p:sp>
        <p:nvSpPr>
          <p:cNvPr id="20" name="Shape 20"/>
          <p:cNvSpPr/>
          <p:nvPr/>
        </p:nvSpPr>
        <p:spPr>
          <a:xfrm>
            <a:off x="11480000" y="1750000"/>
            <a:ext cx="1300000" cy="760000"/>
          </a:xfrm>
          <a:prstGeom prst="roundRect">
            <a:avLst/>
          </a:prstGeom>
          <a:solidFill>
            <a:srgbClr val="ECFDF5"/>
          </a:solidFill>
          <a:ln w="12700">
            <a:solidFill>
              <a:srgbClr val="059669"/>
            </a:solidFill>
          </a:ln>
        </p:spPr>
        <p:txBody>
          <a:bodyPr wrap="square" anchor="mid" lIns="152400" tIns="91440" rIns="152400" bIns="91440"/>
          <a:lstStyle/>
          <a:p>
            <a:pPr algn="c"/>
            <a:r>
              <a:rPr lang="en-US" sz="1650" dirty="0">
                <a:solidFill>
                  <a:srgbClr val="0F172A"/>
                </a:solidFill>
                <a:latin typeface="Aptos"/>
              </a:rPr>
              <a:t>User</a:t>
            </a:r>
            <a:endParaRPr lang="en-US" sz="1650"/>
          </a:p>
          <a:p>
            <a:pPr algn="c"/>
            <a:r>
              <a:rPr lang="en-US" sz="1650" dirty="0">
                <a:solidFill>
                  <a:srgbClr val="0F172A"/>
                </a:solidFill>
                <a:latin typeface="Aptos"/>
              </a:rPr>
              <a:t>speech +</a:t>
            </a:r>
            <a:endParaRPr lang="en-US" sz="1650"/>
          </a:p>
          <a:p>
            <a:pPr algn="c"/>
            <a:r>
              <a:rPr lang="en-US" sz="1650" dirty="0">
                <a:solidFill>
                  <a:srgbClr val="0F172A"/>
                </a:solidFill>
                <a:latin typeface="Aptos"/>
              </a:rPr>
              <a:t>haptics</a:t>
            </a:r>
            <a:endParaRPr lang="en-US" sz="1650"/>
          </a:p>
        </p:txBody>
      </p:sp>
      <p:sp>
        <p:nvSpPr>
          <p:cNvPr id="21" name="Shape 21"/>
          <p:cNvSpPr/>
          <p:nvPr/>
        </p:nvSpPr>
        <p:spPr>
          <a:xfrm>
            <a:off x="7080000" y="3500000"/>
            <a:ext cx="1800000" cy="760000"/>
          </a:xfrm>
          <a:prstGeom prst="roundRect">
            <a:avLst/>
          </a:prstGeom>
          <a:solidFill>
            <a:srgbClr val="F5F3FF"/>
          </a:solidFill>
          <a:ln w="12700">
            <a:solidFill>
              <a:srgbClr val="7C3AED"/>
            </a:solidFill>
          </a:ln>
        </p:spPr>
        <p:txBody>
          <a:bodyPr wrap="square" anchor="mid" lIns="152400" tIns="91440" rIns="152400" bIns="91440"/>
          <a:lstStyle/>
          <a:p>
            <a:pPr algn="c"/>
            <a:r>
              <a:rPr lang="en-US" sz="1650" dirty="0">
                <a:solidFill>
                  <a:srgbClr val="0F172A"/>
                </a:solidFill>
                <a:latin typeface="Aptos"/>
              </a:rPr>
              <a:t>Tap / Voice</a:t>
            </a:r>
            <a:endParaRPr lang="en-US" sz="1650"/>
          </a:p>
        </p:txBody>
      </p:sp>
      <p:sp>
        <p:nvSpPr>
          <p:cNvPr id="22" name="Shape 22"/>
          <p:cNvSpPr/>
          <p:nvPr/>
        </p:nvSpPr>
        <p:spPr>
          <a:xfrm>
            <a:off x="9280000" y="3500000"/>
            <a:ext cx="1800000" cy="760000"/>
          </a:xfrm>
          <a:prstGeom prst="roundRect">
            <a:avLst/>
          </a:prstGeom>
          <a:solidFill>
            <a:srgbClr val="F5F3FF"/>
          </a:solidFill>
          <a:ln w="12700">
            <a:solidFill>
              <a:srgbClr val="7C3AED"/>
            </a:solidFill>
          </a:ln>
        </p:spPr>
        <p:txBody>
          <a:bodyPr wrap="square" anchor="mid" lIns="152400" tIns="91440" rIns="152400" bIns="91440"/>
          <a:lstStyle/>
          <a:p>
            <a:pPr algn="c"/>
            <a:r>
              <a:rPr lang="en-US" sz="1650" dirty="0">
                <a:solidFill>
                  <a:srgbClr val="0F172A"/>
                </a:solidFill>
                <a:latin typeface="Aptos"/>
              </a:rPr>
              <a:t>VLM Endpoint</a:t>
            </a:r>
            <a:endParaRPr lang="en-US" sz="1650"/>
          </a:p>
          <a:p>
            <a:pPr algn="c"/>
            <a:r>
              <a:rPr lang="en-US" sz="1650" dirty="0">
                <a:solidFill>
                  <a:srgbClr val="0F172A"/>
                </a:solidFill>
                <a:latin typeface="Aptos"/>
              </a:rPr>
              <a:t>Ollama or</a:t>
            </a:r>
            <a:endParaRPr lang="en-US" sz="1650"/>
          </a:p>
          <a:p>
            <a:pPr algn="c"/>
            <a:r>
              <a:rPr lang="en-US" sz="1650" dirty="0">
                <a:solidFill>
                  <a:srgbClr val="0F172A"/>
                </a:solidFill>
                <a:latin typeface="Aptos"/>
              </a:rPr>
              <a:t>Cloudflare</a:t>
            </a:r>
            <a:endParaRPr lang="en-US" sz="1650"/>
          </a:p>
        </p:txBody>
      </p:sp>
      <p:sp>
        <p:nvSpPr>
          <p:cNvPr id="23" name="Shape 23"/>
          <p:cNvSpPr/>
          <p:nvPr/>
        </p:nvSpPr>
        <p:spPr>
          <a:xfrm>
            <a:off x="11480000" y="3500000"/>
            <a:ext cx="1300000" cy="760000"/>
          </a:xfrm>
          <a:prstGeom prst="roundRect">
            <a:avLst/>
          </a:prstGeom>
          <a:solidFill>
            <a:srgbClr val="FDF2F8"/>
          </a:solidFill>
          <a:ln w="12700">
            <a:solidFill>
              <a:srgbClr val="DB2777"/>
            </a:solidFill>
          </a:ln>
        </p:spPr>
        <p:txBody>
          <a:bodyPr wrap="square" anchor="mid" lIns="152400" tIns="91440" rIns="152400" bIns="91440"/>
          <a:lstStyle/>
          <a:p>
            <a:pPr algn="c"/>
            <a:r>
              <a:rPr lang="en-US" sz="1650" dirty="0">
                <a:solidFill>
                  <a:srgbClr val="0F172A"/>
                </a:solidFill>
                <a:latin typeface="Aptos"/>
              </a:rPr>
              <a:t>Scene</a:t>
            </a:r>
            <a:endParaRPr lang="en-US" sz="1650"/>
          </a:p>
          <a:p>
            <a:pPr algn="c"/>
            <a:r>
              <a:rPr lang="en-US" sz="1650" dirty="0">
                <a:solidFill>
                  <a:srgbClr val="0F172A"/>
                </a:solidFill>
                <a:latin typeface="Aptos"/>
              </a:rPr>
              <a:t>OCR</a:t>
            </a:r>
            <a:endParaRPr lang="en-US" sz="1650"/>
          </a:p>
          <a:p>
            <a:pPr algn="c"/>
            <a:r>
              <a:rPr lang="en-US" sz="1650" dirty="0">
                <a:solidFill>
                  <a:srgbClr val="0F172A"/>
                </a:solidFill>
                <a:latin typeface="Aptos"/>
              </a:rPr>
              <a:t>Search</a:t>
            </a:r>
            <a:endParaRPr lang="en-US" sz="16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3333333" cy="7500000"/>
          </a:xfrm>
          <a:prstGeom prst="rect">
            <a:avLst/>
          </a:prstGeom>
          <a:solidFill>
            <a:srgbClr val="F8FAFC"/>
          </a:solidFill>
          <a:ln>
            <a:noFill/>
          </a:ln>
        </p:spPr>
      </p:sp>
      <p:sp>
        <p:nvSpPr>
          <p:cNvPr id="3" name="Shape 3"/>
          <p:cNvSpPr/>
          <p:nvPr/>
        </p:nvSpPr>
        <p:spPr>
          <a:xfrm>
            <a:off x="0" y="0"/>
            <a:ext cx="145000" cy="7500000"/>
          </a:xfrm>
          <a:prstGeom prst="rect">
            <a:avLst/>
          </a:prstGeom>
          <a:solidFill>
            <a:srgbClr val="0EA5A4"/>
          </a:solidFill>
          <a:ln>
            <a:noFill/>
          </a:ln>
        </p:spPr>
      </p:sp>
      <p:sp>
        <p:nvSpPr>
          <p:cNvPr id="4" name="Shape 4"/>
          <p:cNvSpPr/>
          <p:nvPr/>
        </p:nvSpPr>
        <p:spPr>
          <a:xfrm>
            <a:off x="380000" y="260000"/>
            <a:ext cx="8500000" cy="600000"/>
          </a:xfrm>
          <a:prstGeom prst="rect">
            <a:avLst/>
          </a:prstGeom>
          <a:noFill/>
          <a:ln>
            <a:noFill/>
          </a:ln>
        </p:spPr>
        <p:txBody>
          <a:bodyPr wrap="square" anchor="mid" lIns="152400" tIns="91440" rIns="152400" bIns="91440"/>
          <a:lstStyle/>
          <a:p>
            <a:pPr algn="l"/>
            <a:r>
              <a:rPr lang="en-US" sz="3300" dirty="0" b="1">
                <a:solidFill>
                  <a:srgbClr val="0F172A"/>
                </a:solidFill>
                <a:latin typeface="Aptos"/>
              </a:rPr>
              <a:t>Fast Lane Demo Flow</a:t>
            </a:r>
            <a:endParaRPr lang="en-US" sz="3300"/>
          </a:p>
        </p:txBody>
      </p:sp>
      <p:sp>
        <p:nvSpPr>
          <p:cNvPr id="5" name="Shape 5"/>
          <p:cNvSpPr/>
          <p:nvPr/>
        </p:nvSpPr>
        <p:spPr>
          <a:xfrm>
            <a:off x="400000" y="850000"/>
            <a:ext cx="7600000" cy="380000"/>
          </a:xfrm>
          <a:prstGeom prst="rect">
            <a:avLst/>
          </a:prstGeom>
          <a:noFill/>
          <a:ln>
            <a:noFill/>
          </a:ln>
        </p:spPr>
        <p:txBody>
          <a:bodyPr wrap="square" anchor="mid" lIns="152400" tIns="91440" rIns="152400" bIns="91440"/>
          <a:lstStyle/>
          <a:p>
            <a:pPr algn="l"/>
            <a:r>
              <a:rPr lang="en-US" sz="1850" dirty="0">
                <a:solidFill>
                  <a:srgbClr val="475569"/>
                </a:solidFill>
                <a:latin typeface="Aptos"/>
              </a:rPr>
              <a:t>The core safety loop running inside the browser.</a:t>
            </a:r>
            <a:endParaRPr lang="en-US" sz="1850"/>
          </a:p>
        </p:txBody>
      </p:sp>
      <p:sp>
        <p:nvSpPr>
          <p:cNvPr id="6" name="Shape 6"/>
          <p:cNvSpPr/>
          <p:nvPr/>
        </p:nvSpPr>
        <p:spPr>
          <a:xfrm>
            <a:off x="400000" y="7130000"/>
            <a:ext cx="5200000" cy="210000"/>
          </a:xfrm>
          <a:prstGeom prst="rect">
            <a:avLst/>
          </a:prstGeom>
          <a:noFill/>
          <a:ln>
            <a:noFill/>
          </a:ln>
        </p:spPr>
        <p:txBody>
          <a:bodyPr wrap="square" anchor="mid" lIns="152400" tIns="91440" rIns="152400" bIns="91440"/>
          <a:lstStyle/>
          <a:p>
            <a:pPr algn="l"/>
            <a:r>
              <a:rPr lang="en-US" sz="1050" dirty="0">
                <a:solidFill>
                  <a:srgbClr val="64748B"/>
                </a:solidFill>
                <a:latin typeface="Aptos"/>
              </a:rPr>
              <a:t>VoiceEye | Sprint 2 Demo</a:t>
            </a:r>
            <a:endParaRPr lang="en-US" sz="1050"/>
          </a:p>
        </p:txBody>
      </p:sp>
      <p:cxnSp>
        <p:nvCxnSpPr>
          <p:cNvPr id="7" name="Connector 7"/>
          <p:cNvCxnSpPr/>
          <p:nvPr/>
        </p:nvCxnSpPr>
        <p:spPr>
          <a:xfrm>
            <a:off x="3000000" y="2030000"/>
            <a:ext cx="550000" cy="1"/>
          </a:xfrm>
          <a:prstGeom prst="line">
            <a:avLst/>
          </a:prstGeom>
          <a:ln w="19050">
            <a:solidFill>
              <a:srgbClr val="334155"/>
            </a:solidFill>
            <a:tailEnd type="triangle"/>
          </a:ln>
        </p:spPr>
      </p:cxnSp>
      <p:cxnSp>
        <p:nvCxnSpPr>
          <p:cNvPr id="8" name="Connector 8"/>
          <p:cNvCxnSpPr/>
          <p:nvPr/>
        </p:nvCxnSpPr>
        <p:spPr>
          <a:xfrm>
            <a:off x="5850000" y="2030000"/>
            <a:ext cx="550000" cy="1"/>
          </a:xfrm>
          <a:prstGeom prst="line">
            <a:avLst/>
          </a:prstGeom>
          <a:ln w="19050">
            <a:solidFill>
              <a:srgbClr val="334155"/>
            </a:solidFill>
            <a:tailEnd type="triangle"/>
          </a:ln>
        </p:spPr>
      </p:cxnSp>
      <p:cxnSp>
        <p:nvCxnSpPr>
          <p:cNvPr id="9" name="Connector 9"/>
          <p:cNvCxnSpPr/>
          <p:nvPr/>
        </p:nvCxnSpPr>
        <p:spPr>
          <a:xfrm>
            <a:off x="8700000" y="2030000"/>
            <a:ext cx="550000" cy="1"/>
          </a:xfrm>
          <a:prstGeom prst="line">
            <a:avLst/>
          </a:prstGeom>
          <a:ln w="19050">
            <a:solidFill>
              <a:srgbClr val="334155"/>
            </a:solidFill>
            <a:tailEnd type="triangle"/>
          </a:ln>
        </p:spPr>
      </p:cxnSp>
      <p:cxnSp>
        <p:nvCxnSpPr>
          <p:cNvPr id="10" name="Connector 10"/>
          <p:cNvCxnSpPr/>
          <p:nvPr/>
        </p:nvCxnSpPr>
        <p:spPr>
          <a:xfrm flipH="1">
            <a:off x="4700000" y="2410000"/>
            <a:ext cx="5700000" cy="890000"/>
          </a:xfrm>
          <a:prstGeom prst="line">
            <a:avLst/>
          </a:prstGeom>
          <a:ln w="19050">
            <a:solidFill>
              <a:srgbClr val="334155"/>
            </a:solidFill>
            <a:tailEnd type="triangle"/>
          </a:ln>
        </p:spPr>
      </p:cxnSp>
      <p:cxnSp>
        <p:nvCxnSpPr>
          <p:cNvPr id="11" name="Connector 11"/>
          <p:cNvCxnSpPr/>
          <p:nvPr/>
        </p:nvCxnSpPr>
        <p:spPr>
          <a:xfrm>
            <a:off x="5850000" y="3680000"/>
            <a:ext cx="550000" cy="1"/>
          </a:xfrm>
          <a:prstGeom prst="line">
            <a:avLst/>
          </a:prstGeom>
          <a:ln w="19050">
            <a:solidFill>
              <a:srgbClr val="334155"/>
            </a:solidFill>
            <a:tailEnd type="triangle"/>
          </a:ln>
        </p:spPr>
      </p:cxnSp>
      <p:cxnSp>
        <p:nvCxnSpPr>
          <p:cNvPr id="12" name="Connector 12"/>
          <p:cNvCxnSpPr/>
          <p:nvPr/>
        </p:nvCxnSpPr>
        <p:spPr>
          <a:xfrm>
            <a:off x="8700000" y="3680000"/>
            <a:ext cx="550000" cy="1"/>
          </a:xfrm>
          <a:prstGeom prst="line">
            <a:avLst/>
          </a:prstGeom>
          <a:ln w="19050">
            <a:solidFill>
              <a:srgbClr val="334155"/>
            </a:solidFill>
            <a:tailEnd type="triangle"/>
          </a:ln>
        </p:spPr>
      </p:cxnSp>
      <p:sp>
        <p:nvSpPr>
          <p:cNvPr id="13" name="Shape 13"/>
          <p:cNvSpPr/>
          <p:nvPr/>
        </p:nvSpPr>
        <p:spPr>
          <a:xfrm>
            <a:off x="700000" y="1650000"/>
            <a:ext cx="2300000" cy="760000"/>
          </a:xfrm>
          <a:prstGeom prst="roundRect">
            <a:avLst/>
          </a:prstGeom>
          <a:solidFill>
            <a:srgbClr val="FFFFFF"/>
          </a:solidFill>
          <a:ln w="12700">
            <a:solidFill>
              <a:srgbClr val="CBD5E1"/>
            </a:solidFill>
          </a:ln>
        </p:spPr>
        <p:txBody>
          <a:bodyPr wrap="square" anchor="mid" lIns="152400" tIns="91440" rIns="152400" bIns="91440"/>
          <a:lstStyle/>
          <a:p>
            <a:pPr algn="c"/>
            <a:r>
              <a:rPr lang="en-US" sz="1650" dirty="0">
                <a:solidFill>
                  <a:srgbClr val="0F172A"/>
                </a:solidFill>
                <a:latin typeface="Aptos"/>
              </a:rPr>
              <a:t>1. Camera frame</a:t>
            </a:r>
            <a:endParaRPr lang="en-US" sz="1650"/>
          </a:p>
        </p:txBody>
      </p:sp>
      <p:sp>
        <p:nvSpPr>
          <p:cNvPr id="14" name="Shape 14"/>
          <p:cNvSpPr/>
          <p:nvPr/>
        </p:nvSpPr>
        <p:spPr>
          <a:xfrm>
            <a:off x="3550000" y="1650000"/>
            <a:ext cx="2300000" cy="760000"/>
          </a:xfrm>
          <a:prstGeom prst="roundRect">
            <a:avLst/>
          </a:prstGeom>
          <a:solidFill>
            <a:srgbClr val="FFFFFF"/>
          </a:solidFill>
          <a:ln w="12700">
            <a:solidFill>
              <a:srgbClr val="CBD5E1"/>
            </a:solidFill>
          </a:ln>
        </p:spPr>
        <p:txBody>
          <a:bodyPr wrap="square" anchor="mid" lIns="152400" tIns="91440" rIns="152400" bIns="91440"/>
          <a:lstStyle/>
          <a:p>
            <a:pPr algn="c"/>
            <a:r>
              <a:rPr lang="en-US" sz="1650" dirty="0">
                <a:solidFill>
                  <a:srgbClr val="0F172A"/>
                </a:solidFill>
                <a:latin typeface="Aptos"/>
              </a:rPr>
              <a:t>2. YOLO inference</a:t>
            </a:r>
            <a:endParaRPr lang="en-US" sz="1650"/>
          </a:p>
        </p:txBody>
      </p:sp>
      <p:sp>
        <p:nvSpPr>
          <p:cNvPr id="15" name="Shape 15"/>
          <p:cNvSpPr/>
          <p:nvPr/>
        </p:nvSpPr>
        <p:spPr>
          <a:xfrm>
            <a:off x="6400000" y="1650000"/>
            <a:ext cx="2300000" cy="760000"/>
          </a:xfrm>
          <a:prstGeom prst="roundRect">
            <a:avLst/>
          </a:prstGeom>
          <a:solidFill>
            <a:srgbClr val="FFFFFF"/>
          </a:solidFill>
          <a:ln w="12700">
            <a:solidFill>
              <a:srgbClr val="CBD5E1"/>
            </a:solidFill>
          </a:ln>
        </p:spPr>
        <p:txBody>
          <a:bodyPr wrap="square" anchor="mid" lIns="152400" tIns="91440" rIns="152400" bIns="91440"/>
          <a:lstStyle/>
          <a:p>
            <a:pPr algn="c"/>
            <a:r>
              <a:rPr lang="en-US" sz="1650" dirty="0">
                <a:solidFill>
                  <a:srgbClr val="0F172A"/>
                </a:solidFill>
                <a:latin typeface="Aptos"/>
              </a:rPr>
              <a:t>3. Track objects</a:t>
            </a:r>
            <a:endParaRPr lang="en-US" sz="1650"/>
          </a:p>
        </p:txBody>
      </p:sp>
      <p:sp>
        <p:nvSpPr>
          <p:cNvPr id="16" name="Shape 16"/>
          <p:cNvSpPr/>
          <p:nvPr/>
        </p:nvSpPr>
        <p:spPr>
          <a:xfrm>
            <a:off x="9250000" y="1650000"/>
            <a:ext cx="2300000" cy="760000"/>
          </a:xfrm>
          <a:prstGeom prst="roundRect">
            <a:avLst/>
          </a:prstGeom>
          <a:solidFill>
            <a:srgbClr val="FFFFFF"/>
          </a:solidFill>
          <a:ln w="12700">
            <a:solidFill>
              <a:srgbClr val="CBD5E1"/>
            </a:solidFill>
          </a:ln>
        </p:spPr>
        <p:txBody>
          <a:bodyPr wrap="square" anchor="mid" lIns="152400" tIns="91440" rIns="152400" bIns="91440"/>
          <a:lstStyle/>
          <a:p>
            <a:pPr algn="c"/>
            <a:r>
              <a:rPr lang="en-US" sz="1650" dirty="0">
                <a:solidFill>
                  <a:srgbClr val="0F172A"/>
                </a:solidFill>
                <a:latin typeface="Aptos"/>
              </a:rPr>
              <a:t>4. Estimate distance</a:t>
            </a:r>
            <a:endParaRPr lang="en-US" sz="1650"/>
          </a:p>
        </p:txBody>
      </p:sp>
      <p:sp>
        <p:nvSpPr>
          <p:cNvPr id="17" name="Shape 17"/>
          <p:cNvSpPr/>
          <p:nvPr/>
        </p:nvSpPr>
        <p:spPr>
          <a:xfrm>
            <a:off x="3550000" y="3300000"/>
            <a:ext cx="2300000" cy="760000"/>
          </a:xfrm>
          <a:prstGeom prst="roundRect">
            <a:avLst/>
          </a:prstGeom>
          <a:solidFill>
            <a:srgbClr val="FEF3C7"/>
          </a:solidFill>
          <a:ln w="12700">
            <a:solidFill>
              <a:srgbClr val="F59E0B"/>
            </a:solidFill>
          </a:ln>
        </p:spPr>
        <p:txBody>
          <a:bodyPr wrap="square" anchor="mid" lIns="152400" tIns="91440" rIns="152400" bIns="91440"/>
          <a:lstStyle/>
          <a:p>
            <a:pPr algn="c"/>
            <a:r>
              <a:rPr lang="en-US" sz="1650" dirty="0">
                <a:solidFill>
                  <a:srgbClr val="0F172A"/>
                </a:solidFill>
                <a:latin typeface="Aptos"/>
              </a:rPr>
              <a:t>5. Rank hazards</a:t>
            </a:r>
            <a:endParaRPr lang="en-US" sz="1650"/>
          </a:p>
        </p:txBody>
      </p:sp>
      <p:sp>
        <p:nvSpPr>
          <p:cNvPr id="18" name="Shape 18"/>
          <p:cNvSpPr/>
          <p:nvPr/>
        </p:nvSpPr>
        <p:spPr>
          <a:xfrm>
            <a:off x="6400000" y="3300000"/>
            <a:ext cx="2300000" cy="760000"/>
          </a:xfrm>
          <a:prstGeom prst="roundRect">
            <a:avLst/>
          </a:prstGeom>
          <a:solidFill>
            <a:srgbClr val="FEF3C7"/>
          </a:solidFill>
          <a:ln w="12700">
            <a:solidFill>
              <a:srgbClr val="F59E0B"/>
            </a:solidFill>
          </a:ln>
        </p:spPr>
        <p:txBody>
          <a:bodyPr wrap="square" anchor="mid" lIns="152400" tIns="91440" rIns="152400" bIns="91440"/>
          <a:lstStyle/>
          <a:p>
            <a:pPr algn="c"/>
            <a:r>
              <a:rPr lang="en-US" sz="1650" dirty="0">
                <a:solidFill>
                  <a:srgbClr val="0F172A"/>
                </a:solidFill>
                <a:latin typeface="Aptos"/>
              </a:rPr>
              <a:t>6. Apply cooldowns</a:t>
            </a:r>
            <a:endParaRPr lang="en-US" sz="1650"/>
          </a:p>
        </p:txBody>
      </p:sp>
      <p:sp>
        <p:nvSpPr>
          <p:cNvPr id="19" name="Shape 19"/>
          <p:cNvSpPr/>
          <p:nvPr/>
        </p:nvSpPr>
        <p:spPr>
          <a:xfrm>
            <a:off x="9250000" y="3300000"/>
            <a:ext cx="2300000" cy="760000"/>
          </a:xfrm>
          <a:prstGeom prst="roundRect">
            <a:avLst/>
          </a:prstGeom>
          <a:solidFill>
            <a:srgbClr val="DCFCE7"/>
          </a:solidFill>
          <a:ln w="12700">
            <a:solidFill>
              <a:srgbClr val="16A34A"/>
            </a:solidFill>
          </a:ln>
        </p:spPr>
        <p:txBody>
          <a:bodyPr wrap="square" anchor="mid" lIns="152400" tIns="91440" rIns="152400" bIns="91440"/>
          <a:lstStyle/>
          <a:p>
            <a:pPr algn="c"/>
            <a:r>
              <a:rPr lang="en-US" sz="1650" dirty="0">
                <a:solidFill>
                  <a:srgbClr val="0F172A"/>
                </a:solidFill>
                <a:latin typeface="Aptos"/>
              </a:rPr>
              <a:t>7. Speak/vibrate</a:t>
            </a:r>
            <a:endParaRPr lang="en-US" sz="16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3333333" cy="7500000"/>
          </a:xfrm>
          <a:prstGeom prst="rect">
            <a:avLst/>
          </a:prstGeom>
          <a:solidFill>
            <a:srgbClr val="F8FAFC"/>
          </a:solidFill>
          <a:ln>
            <a:noFill/>
          </a:ln>
        </p:spPr>
      </p:sp>
      <p:sp>
        <p:nvSpPr>
          <p:cNvPr id="3" name="Shape 3"/>
          <p:cNvSpPr/>
          <p:nvPr/>
        </p:nvSpPr>
        <p:spPr>
          <a:xfrm>
            <a:off x="0" y="0"/>
            <a:ext cx="145000" cy="7500000"/>
          </a:xfrm>
          <a:prstGeom prst="rect">
            <a:avLst/>
          </a:prstGeom>
          <a:solidFill>
            <a:srgbClr val="0EA5A4"/>
          </a:solidFill>
          <a:ln>
            <a:noFill/>
          </a:ln>
        </p:spPr>
      </p:sp>
      <p:sp>
        <p:nvSpPr>
          <p:cNvPr id="4" name="Shape 4"/>
          <p:cNvSpPr/>
          <p:nvPr/>
        </p:nvSpPr>
        <p:spPr>
          <a:xfrm>
            <a:off x="380000" y="260000"/>
            <a:ext cx="8500000" cy="600000"/>
          </a:xfrm>
          <a:prstGeom prst="rect">
            <a:avLst/>
          </a:prstGeom>
          <a:noFill/>
          <a:ln>
            <a:noFill/>
          </a:ln>
        </p:spPr>
        <p:txBody>
          <a:bodyPr wrap="square" anchor="mid" lIns="152400" tIns="91440" rIns="152400" bIns="91440"/>
          <a:lstStyle/>
          <a:p>
            <a:pPr algn="l"/>
            <a:r>
              <a:rPr lang="en-US" sz="3300" dirty="0" b="1">
                <a:solidFill>
                  <a:srgbClr val="0F172A"/>
                </a:solidFill>
                <a:latin typeface="Aptos"/>
              </a:rPr>
              <a:t>YOLO Fast Lane Training Result</a:t>
            </a:r>
            <a:endParaRPr lang="en-US" sz="3300"/>
          </a:p>
        </p:txBody>
      </p:sp>
      <p:sp>
        <p:nvSpPr>
          <p:cNvPr id="5" name="Shape 5"/>
          <p:cNvSpPr/>
          <p:nvPr/>
        </p:nvSpPr>
        <p:spPr>
          <a:xfrm>
            <a:off x="400000" y="850000"/>
            <a:ext cx="7600000" cy="380000"/>
          </a:xfrm>
          <a:prstGeom prst="rect">
            <a:avLst/>
          </a:prstGeom>
          <a:noFill/>
          <a:ln>
            <a:noFill/>
          </a:ln>
        </p:spPr>
        <p:txBody>
          <a:bodyPr wrap="square" anchor="mid" lIns="152400" tIns="91440" rIns="152400" bIns="91440"/>
          <a:lstStyle/>
          <a:p>
            <a:pPr algn="l"/>
            <a:r>
              <a:rPr lang="en-US" sz="1850" dirty="0">
                <a:solidFill>
                  <a:srgbClr val="475569"/>
                </a:solidFill>
                <a:latin typeface="Aptos"/>
              </a:rPr>
              <a:t>The trained model is ready for browser runtime validation.</a:t>
            </a:r>
            <a:endParaRPr lang="en-US" sz="1850"/>
          </a:p>
        </p:txBody>
      </p:sp>
      <p:sp>
        <p:nvSpPr>
          <p:cNvPr id="6" name="Shape 6"/>
          <p:cNvSpPr/>
          <p:nvPr/>
        </p:nvSpPr>
        <p:spPr>
          <a:xfrm>
            <a:off x="400000" y="7130000"/>
            <a:ext cx="5200000" cy="210000"/>
          </a:xfrm>
          <a:prstGeom prst="rect">
            <a:avLst/>
          </a:prstGeom>
          <a:noFill/>
          <a:ln>
            <a:noFill/>
          </a:ln>
        </p:spPr>
        <p:txBody>
          <a:bodyPr wrap="square" anchor="mid" lIns="152400" tIns="91440" rIns="152400" bIns="91440"/>
          <a:lstStyle/>
          <a:p>
            <a:pPr algn="l"/>
            <a:r>
              <a:rPr lang="en-US" sz="1050" dirty="0">
                <a:solidFill>
                  <a:srgbClr val="64748B"/>
                </a:solidFill>
                <a:latin typeface="Aptos"/>
              </a:rPr>
              <a:t>VoiceEye | Sprint 2 Demo</a:t>
            </a:r>
            <a:endParaRPr lang="en-US" sz="1050"/>
          </a:p>
        </p:txBody>
      </p:sp>
      <p:sp>
        <p:nvSpPr>
          <p:cNvPr id="7" name="Shape 7"/>
          <p:cNvSpPr/>
          <p:nvPr/>
        </p:nvSpPr>
        <p:spPr>
          <a:xfrm>
            <a:off x="700000" y="1600000"/>
            <a:ext cx="2450000" cy="1150000"/>
          </a:xfrm>
          <a:prstGeom prst="roundRect">
            <a:avLst/>
          </a:prstGeom>
          <a:solidFill>
            <a:srgbClr val="DBEAFE"/>
          </a:solidFill>
          <a:ln w="12700">
            <a:solidFill>
              <a:srgbClr val="2563EB"/>
            </a:solidFill>
          </a:ln>
        </p:spPr>
        <p:txBody>
          <a:bodyPr wrap="square" anchor="mid" lIns="152400" tIns="91440" rIns="152400" bIns="91440"/>
          <a:lstStyle/>
          <a:p>
            <a:pPr algn="c"/>
            <a:r>
              <a:rPr lang="en-US" sz="2500" dirty="0" b="1">
                <a:solidFill>
                  <a:srgbClr val="1E3A8A"/>
                </a:solidFill>
                <a:latin typeface="Aptos"/>
              </a:rPr>
              <a:t>best.onnx</a:t>
            </a:r>
            <a:endParaRPr lang="en-US" sz="2500"/>
          </a:p>
          <a:p>
            <a:pPr algn="c"/>
            <a:r>
              <a:rPr lang="en-US" sz="2500" dirty="0" b="1">
                <a:solidFill>
                  <a:srgbClr val="1E3A8A"/>
                </a:solidFill>
                <a:latin typeface="Aptos"/>
              </a:rPr>
              <a:t>9.4 MB</a:t>
            </a:r>
            <a:endParaRPr lang="en-US" sz="2500"/>
          </a:p>
        </p:txBody>
      </p:sp>
      <p:sp>
        <p:nvSpPr>
          <p:cNvPr id="8" name="Shape 8"/>
          <p:cNvSpPr/>
          <p:nvPr/>
        </p:nvSpPr>
        <p:spPr>
          <a:xfrm>
            <a:off x="3600000" y="1600000"/>
            <a:ext cx="2450000" cy="1150000"/>
          </a:xfrm>
          <a:prstGeom prst="roundRect">
            <a:avLst/>
          </a:prstGeom>
          <a:solidFill>
            <a:srgbClr val="DCFCE7"/>
          </a:solidFill>
          <a:ln w="12700">
            <a:solidFill>
              <a:srgbClr val="16A34A"/>
            </a:solidFill>
          </a:ln>
        </p:spPr>
        <p:txBody>
          <a:bodyPr wrap="square" anchor="mid" lIns="152400" tIns="91440" rIns="152400" bIns="91440"/>
          <a:lstStyle/>
          <a:p>
            <a:pPr algn="c"/>
            <a:r>
              <a:rPr lang="en-US" sz="2500" dirty="0" b="1">
                <a:solidFill>
                  <a:srgbClr val="14532D"/>
                </a:solidFill>
                <a:latin typeface="Aptos"/>
              </a:rPr>
              <a:t>F1</a:t>
            </a:r>
            <a:endParaRPr lang="en-US" sz="2500"/>
          </a:p>
          <a:p>
            <a:pPr algn="c"/>
            <a:r>
              <a:rPr lang="en-US" sz="2500" dirty="0" b="1">
                <a:solidFill>
                  <a:srgbClr val="14532D"/>
                </a:solidFill>
                <a:latin typeface="Aptos"/>
              </a:rPr>
              <a:t>0.52 @ 0.204</a:t>
            </a:r>
            <a:endParaRPr lang="en-US" sz="2500"/>
          </a:p>
        </p:txBody>
      </p:sp>
      <p:sp>
        <p:nvSpPr>
          <p:cNvPr id="9" name="Shape 9"/>
          <p:cNvSpPr/>
          <p:nvPr/>
        </p:nvSpPr>
        <p:spPr>
          <a:xfrm>
            <a:off x="6500000" y="1600000"/>
            <a:ext cx="2450000" cy="1150000"/>
          </a:xfrm>
          <a:prstGeom prst="roundRect">
            <a:avLst/>
          </a:prstGeom>
          <a:solidFill>
            <a:srgbClr val="FEF3C7"/>
          </a:solidFill>
          <a:ln w="12700">
            <a:solidFill>
              <a:srgbClr val="F59E0B"/>
            </a:solidFill>
          </a:ln>
        </p:spPr>
        <p:txBody>
          <a:bodyPr wrap="square" anchor="mid" lIns="152400" tIns="91440" rIns="152400" bIns="91440"/>
          <a:lstStyle/>
          <a:p>
            <a:pPr algn="c"/>
            <a:r>
              <a:rPr lang="en-US" sz="2500" dirty="0" b="1">
                <a:solidFill>
                  <a:srgbClr val="92400E"/>
                </a:solidFill>
                <a:latin typeface="Aptos"/>
              </a:rPr>
              <a:t>mAP50</a:t>
            </a:r>
            <a:endParaRPr lang="en-US" sz="2500"/>
          </a:p>
          <a:p>
            <a:pPr algn="c"/>
            <a:r>
              <a:rPr lang="en-US" sz="2500" dirty="0" b="1">
                <a:solidFill>
                  <a:srgbClr val="92400E"/>
                </a:solidFill>
                <a:latin typeface="Aptos"/>
              </a:rPr>
              <a:t>~0.50</a:t>
            </a:r>
            <a:endParaRPr lang="en-US" sz="2500"/>
          </a:p>
        </p:txBody>
      </p:sp>
      <p:sp>
        <p:nvSpPr>
          <p:cNvPr id="10" name="Shape 10"/>
          <p:cNvSpPr/>
          <p:nvPr/>
        </p:nvSpPr>
        <p:spPr>
          <a:xfrm>
            <a:off x="9400000" y="1600000"/>
            <a:ext cx="2450000" cy="1150000"/>
          </a:xfrm>
          <a:prstGeom prst="roundRect">
            <a:avLst/>
          </a:prstGeom>
          <a:solidFill>
            <a:srgbClr val="FCE7F3"/>
          </a:solidFill>
          <a:ln w="12700">
            <a:solidFill>
              <a:srgbClr val="DB2777"/>
            </a:solidFill>
          </a:ln>
        </p:spPr>
        <p:txBody>
          <a:bodyPr wrap="square" anchor="mid" lIns="152400" tIns="91440" rIns="152400" bIns="91440"/>
          <a:lstStyle/>
          <a:p>
            <a:pPr algn="c"/>
            <a:r>
              <a:rPr lang="en-US" sz="2500" dirty="0" b="1">
                <a:solidFill>
                  <a:srgbClr val="831843"/>
                </a:solidFill>
                <a:latin typeface="Aptos"/>
              </a:rPr>
              <a:t>mAP50-95</a:t>
            </a:r>
            <a:endParaRPr lang="en-US" sz="2500"/>
          </a:p>
          <a:p>
            <a:pPr algn="c"/>
            <a:r>
              <a:rPr lang="en-US" sz="2500" dirty="0" b="1">
                <a:solidFill>
                  <a:srgbClr val="831843"/>
                </a:solidFill>
                <a:latin typeface="Aptos"/>
              </a:rPr>
              <a:t>~0.35</a:t>
            </a:r>
            <a:endParaRPr lang="en-US" sz="2500"/>
          </a:p>
        </p:txBody>
      </p:sp>
      <p:sp>
        <p:nvSpPr>
          <p:cNvPr id="11" name="Shape 11"/>
          <p:cNvSpPr/>
          <p:nvPr/>
        </p:nvSpPr>
        <p:spPr>
          <a:xfrm>
            <a:off x="900000" y="3400000"/>
            <a:ext cx="10500000" cy="900000"/>
          </a:xfrm>
          <a:prstGeom prst="roundRect">
            <a:avLst/>
          </a:prstGeom>
          <a:solidFill>
            <a:srgbClr val="FFFFFF"/>
          </a:solidFill>
          <a:ln w="12700">
            <a:solidFill>
              <a:srgbClr val="CBD5E1"/>
            </a:solidFill>
          </a:ln>
        </p:spPr>
        <p:txBody>
          <a:bodyPr wrap="square" anchor="mid" lIns="152400" tIns="91440" rIns="152400" bIns="91440"/>
          <a:lstStyle/>
          <a:p>
            <a:pPr algn="l"/>
            <a:r>
              <a:rPr lang="en-US" sz="1750" dirty="0">
                <a:solidFill>
                  <a:srgbClr val="0F172A"/>
                </a:solidFill>
                <a:latin typeface="Aptos"/>
              </a:rPr>
              <a:t>Run: runs/detect/VoiceEye_Runs/fastlane_train</a:t>
            </a:r>
            <a:endParaRPr lang="en-US" sz="1750"/>
          </a:p>
          <a:p>
            <a:pPr algn="l"/>
            <a:r>
              <a:rPr lang="en-US" sz="1750" dirty="0">
                <a:solidFill>
                  <a:srgbClr val="0F172A"/>
                </a:solidFill>
                <a:latin typeface="Aptos"/>
              </a:rPr>
              <a:t>Artifacts: best.pt, last.pt, best.onnx</a:t>
            </a:r>
            <a:endParaRPr lang="en-US" sz="1750"/>
          </a:p>
          <a:p>
            <a:pPr algn="l"/>
            <a:r>
              <a:rPr lang="en-US" sz="1750" dirty="0">
                <a:solidFill>
                  <a:srgbClr val="0F172A"/>
                </a:solidFill>
                <a:latin typeface="Aptos"/>
              </a:rPr>
              <a:t>Next validation: desktop and phone browser FPS, latency, crash behavior, and alert quality</a:t>
            </a:r>
            <a:endParaRPr lang="en-US" sz="17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3333333" cy="7500000"/>
          </a:xfrm>
          <a:prstGeom prst="rect">
            <a:avLst/>
          </a:prstGeom>
          <a:solidFill>
            <a:srgbClr val="F8FAFC"/>
          </a:solidFill>
          <a:ln>
            <a:noFill/>
          </a:ln>
        </p:spPr>
      </p:sp>
      <p:sp>
        <p:nvSpPr>
          <p:cNvPr id="3" name="Shape 3"/>
          <p:cNvSpPr/>
          <p:nvPr/>
        </p:nvSpPr>
        <p:spPr>
          <a:xfrm>
            <a:off x="0" y="0"/>
            <a:ext cx="145000" cy="7500000"/>
          </a:xfrm>
          <a:prstGeom prst="rect">
            <a:avLst/>
          </a:prstGeom>
          <a:solidFill>
            <a:srgbClr val="0EA5A4"/>
          </a:solidFill>
          <a:ln>
            <a:noFill/>
          </a:ln>
        </p:spPr>
      </p:sp>
      <p:sp>
        <p:nvSpPr>
          <p:cNvPr id="4" name="Shape 4"/>
          <p:cNvSpPr/>
          <p:nvPr/>
        </p:nvSpPr>
        <p:spPr>
          <a:xfrm>
            <a:off x="380000" y="260000"/>
            <a:ext cx="8500000" cy="600000"/>
          </a:xfrm>
          <a:prstGeom prst="rect">
            <a:avLst/>
          </a:prstGeom>
          <a:noFill/>
          <a:ln>
            <a:noFill/>
          </a:ln>
        </p:spPr>
        <p:txBody>
          <a:bodyPr wrap="square" anchor="mid" lIns="152400" tIns="91440" rIns="152400" bIns="91440"/>
          <a:lstStyle/>
          <a:p>
            <a:pPr algn="l"/>
            <a:r>
              <a:rPr lang="en-US" sz="3300" dirty="0" b="1">
                <a:solidFill>
                  <a:srgbClr val="0F172A"/>
                </a:solidFill>
                <a:latin typeface="Aptos"/>
              </a:rPr>
              <a:t>Slow Lane Demo Flow</a:t>
            </a:r>
            <a:endParaRPr lang="en-US" sz="3300"/>
          </a:p>
        </p:txBody>
      </p:sp>
      <p:sp>
        <p:nvSpPr>
          <p:cNvPr id="5" name="Shape 5"/>
          <p:cNvSpPr/>
          <p:nvPr/>
        </p:nvSpPr>
        <p:spPr>
          <a:xfrm>
            <a:off x="400000" y="850000"/>
            <a:ext cx="7600000" cy="380000"/>
          </a:xfrm>
          <a:prstGeom prst="rect">
            <a:avLst/>
          </a:prstGeom>
          <a:noFill/>
          <a:ln>
            <a:noFill/>
          </a:ln>
        </p:spPr>
        <p:txBody>
          <a:bodyPr wrap="square" anchor="mid" lIns="152400" tIns="91440" rIns="152400" bIns="91440"/>
          <a:lstStyle/>
          <a:p>
            <a:pPr algn="l"/>
            <a:r>
              <a:rPr lang="en-US" sz="1850" dirty="0">
                <a:solidFill>
                  <a:srgbClr val="475569"/>
                </a:solidFill>
                <a:latin typeface="Aptos"/>
              </a:rPr>
              <a:t>On-demand context when the user asks for more than hazard alerts.</a:t>
            </a:r>
            <a:endParaRPr lang="en-US" sz="1850"/>
          </a:p>
        </p:txBody>
      </p:sp>
      <p:sp>
        <p:nvSpPr>
          <p:cNvPr id="6" name="Shape 6"/>
          <p:cNvSpPr/>
          <p:nvPr/>
        </p:nvSpPr>
        <p:spPr>
          <a:xfrm>
            <a:off x="400000" y="7130000"/>
            <a:ext cx="5200000" cy="210000"/>
          </a:xfrm>
          <a:prstGeom prst="rect">
            <a:avLst/>
          </a:prstGeom>
          <a:noFill/>
          <a:ln>
            <a:noFill/>
          </a:ln>
        </p:spPr>
        <p:txBody>
          <a:bodyPr wrap="square" anchor="mid" lIns="152400" tIns="91440" rIns="152400" bIns="91440"/>
          <a:lstStyle/>
          <a:p>
            <a:pPr algn="l"/>
            <a:r>
              <a:rPr lang="en-US" sz="1050" dirty="0">
                <a:solidFill>
                  <a:srgbClr val="64748B"/>
                </a:solidFill>
                <a:latin typeface="Aptos"/>
              </a:rPr>
              <a:t>VoiceEye | Sprint 2 Demo</a:t>
            </a:r>
            <a:endParaRPr lang="en-US" sz="1050"/>
          </a:p>
        </p:txBody>
      </p:sp>
      <p:cxnSp>
        <p:nvCxnSpPr>
          <p:cNvPr id="7" name="Connector 7"/>
          <p:cNvCxnSpPr/>
          <p:nvPr/>
        </p:nvCxnSpPr>
        <p:spPr>
          <a:xfrm>
            <a:off x="3000000" y="2125000"/>
            <a:ext cx="500000" cy="1"/>
          </a:xfrm>
          <a:prstGeom prst="line">
            <a:avLst/>
          </a:prstGeom>
          <a:ln w="19050">
            <a:solidFill>
              <a:srgbClr val="334155"/>
            </a:solidFill>
            <a:tailEnd type="triangle"/>
          </a:ln>
        </p:spPr>
      </p:cxnSp>
      <p:cxnSp>
        <p:nvCxnSpPr>
          <p:cNvPr id="8" name="Connector 8"/>
          <p:cNvCxnSpPr/>
          <p:nvPr/>
        </p:nvCxnSpPr>
        <p:spPr>
          <a:xfrm>
            <a:off x="5800000" y="2125000"/>
            <a:ext cx="500000" cy="1"/>
          </a:xfrm>
          <a:prstGeom prst="line">
            <a:avLst/>
          </a:prstGeom>
          <a:ln w="19050">
            <a:solidFill>
              <a:srgbClr val="334155"/>
            </a:solidFill>
            <a:tailEnd type="triangle"/>
          </a:ln>
        </p:spPr>
      </p:cxnSp>
      <p:cxnSp>
        <p:nvCxnSpPr>
          <p:cNvPr id="9" name="Connector 9"/>
          <p:cNvCxnSpPr/>
          <p:nvPr/>
        </p:nvCxnSpPr>
        <p:spPr>
          <a:xfrm>
            <a:off x="8600000" y="2125000"/>
            <a:ext cx="500000" cy="1"/>
          </a:xfrm>
          <a:prstGeom prst="line">
            <a:avLst/>
          </a:prstGeom>
          <a:ln w="19050">
            <a:solidFill>
              <a:srgbClr val="334155"/>
            </a:solidFill>
            <a:tailEnd type="triangle"/>
          </a:ln>
        </p:spPr>
      </p:cxnSp>
      <p:sp>
        <p:nvSpPr>
          <p:cNvPr id="10" name="Shape 10"/>
          <p:cNvSpPr/>
          <p:nvPr/>
        </p:nvSpPr>
        <p:spPr>
          <a:xfrm>
            <a:off x="700000" y="1700000"/>
            <a:ext cx="2300000" cy="850000"/>
          </a:xfrm>
          <a:prstGeom prst="roundRect">
            <a:avLst/>
          </a:prstGeom>
          <a:solidFill>
            <a:srgbClr val="EDE9FE"/>
          </a:solidFill>
          <a:ln w="12700">
            <a:solidFill>
              <a:srgbClr val="7C3AED"/>
            </a:solidFill>
          </a:ln>
        </p:spPr>
        <p:txBody>
          <a:bodyPr wrap="square" anchor="mid" lIns="152400" tIns="91440" rIns="152400" bIns="91440"/>
          <a:lstStyle/>
          <a:p>
            <a:pPr algn="c"/>
            <a:r>
              <a:rPr lang="en-US" sz="1800" dirty="0" b="1">
                <a:solidFill>
                  <a:srgbClr val="0F172A"/>
                </a:solidFill>
                <a:latin typeface="Aptos"/>
              </a:rPr>
              <a:t>Voice Eye,</a:t>
            </a:r>
            <a:endParaRPr lang="en-US" sz="1800"/>
          </a:p>
          <a:p>
            <a:pPr algn="c"/>
            <a:r>
              <a:rPr lang="en-US" sz="1800" dirty="0" b="1">
                <a:solidFill>
                  <a:srgbClr val="0F172A"/>
                </a:solidFill>
                <a:latin typeface="Aptos"/>
              </a:rPr>
              <a:t>describe</a:t>
            </a:r>
            <a:endParaRPr lang="en-US" sz="1800"/>
          </a:p>
        </p:txBody>
      </p:sp>
      <p:sp>
        <p:nvSpPr>
          <p:cNvPr id="11" name="Shape 11"/>
          <p:cNvSpPr/>
          <p:nvPr/>
        </p:nvSpPr>
        <p:spPr>
          <a:xfrm>
            <a:off x="3500000" y="1700000"/>
            <a:ext cx="2300000" cy="850000"/>
          </a:xfrm>
          <a:prstGeom prst="roundRect">
            <a:avLst/>
          </a:prstGeom>
          <a:solidFill>
            <a:srgbClr val="EDE9FE"/>
          </a:solidFill>
          <a:ln w="12700">
            <a:solidFill>
              <a:srgbClr val="7C3AED"/>
            </a:solidFill>
          </a:ln>
        </p:spPr>
        <p:txBody>
          <a:bodyPr wrap="square" anchor="mid" lIns="152400" tIns="91440" rIns="152400" bIns="91440"/>
          <a:lstStyle/>
          <a:p>
            <a:pPr algn="c"/>
            <a:r>
              <a:rPr lang="en-US" sz="1800" dirty="0" b="1">
                <a:solidFill>
                  <a:srgbClr val="0F172A"/>
                </a:solidFill>
                <a:latin typeface="Aptos"/>
              </a:rPr>
              <a:t>Capture frame</a:t>
            </a:r>
            <a:endParaRPr lang="en-US" sz="1800"/>
          </a:p>
          <a:p>
            <a:pPr algn="c"/>
            <a:r>
              <a:rPr lang="en-US" sz="1800" dirty="0" b="1">
                <a:solidFill>
                  <a:srgbClr val="0F172A"/>
                </a:solidFill>
                <a:latin typeface="Aptos"/>
              </a:rPr>
              <a:t>384px JPEG</a:t>
            </a:r>
            <a:endParaRPr lang="en-US" sz="1800"/>
          </a:p>
        </p:txBody>
      </p:sp>
      <p:sp>
        <p:nvSpPr>
          <p:cNvPr id="12" name="Shape 12"/>
          <p:cNvSpPr/>
          <p:nvPr/>
        </p:nvSpPr>
        <p:spPr>
          <a:xfrm>
            <a:off x="6300000" y="1700000"/>
            <a:ext cx="2300000" cy="850000"/>
          </a:xfrm>
          <a:prstGeom prst="roundRect">
            <a:avLst/>
          </a:prstGeom>
          <a:solidFill>
            <a:srgbClr val="EDE9FE"/>
          </a:solidFill>
          <a:ln w="12700">
            <a:solidFill>
              <a:srgbClr val="7C3AED"/>
            </a:solidFill>
          </a:ln>
        </p:spPr>
        <p:txBody>
          <a:bodyPr wrap="square" anchor="mid" lIns="152400" tIns="91440" rIns="152400" bIns="91440"/>
          <a:lstStyle/>
          <a:p>
            <a:pPr algn="c"/>
            <a:r>
              <a:rPr lang="en-US" sz="1700" dirty="0" b="1">
                <a:solidFill>
                  <a:srgbClr val="0F172A"/>
                </a:solidFill>
                <a:latin typeface="Aptos"/>
              </a:rPr>
              <a:t>Prompt mode</a:t>
            </a:r>
            <a:endParaRPr lang="en-US" sz="1700"/>
          </a:p>
          <a:p>
            <a:pPr algn="c"/>
            <a:r>
              <a:rPr lang="en-US" sz="1700" dirty="0" b="1">
                <a:solidFill>
                  <a:srgbClr val="0F172A"/>
                </a:solidFill>
                <a:latin typeface="Aptos"/>
              </a:rPr>
              <a:t>Describe / Read / Find</a:t>
            </a:r>
            <a:endParaRPr lang="en-US" sz="1700"/>
          </a:p>
        </p:txBody>
      </p:sp>
      <p:sp>
        <p:nvSpPr>
          <p:cNvPr id="13" name="Shape 13"/>
          <p:cNvSpPr/>
          <p:nvPr/>
        </p:nvSpPr>
        <p:spPr>
          <a:xfrm>
            <a:off x="9100000" y="1700000"/>
            <a:ext cx="2600000" cy="850000"/>
          </a:xfrm>
          <a:prstGeom prst="roundRect">
            <a:avLst/>
          </a:prstGeom>
          <a:solidFill>
            <a:srgbClr val="EDE9FE"/>
          </a:solidFill>
          <a:ln w="12700">
            <a:solidFill>
              <a:srgbClr val="7C3AED"/>
            </a:solidFill>
          </a:ln>
        </p:spPr>
        <p:txBody>
          <a:bodyPr wrap="square" anchor="mid" lIns="152400" tIns="91440" rIns="152400" bIns="91440"/>
          <a:lstStyle/>
          <a:p>
            <a:pPr algn="c"/>
            <a:r>
              <a:rPr lang="en-US" sz="1700" dirty="0" b="1">
                <a:solidFill>
                  <a:srgbClr val="0F172A"/>
                </a:solidFill>
                <a:latin typeface="Aptos"/>
              </a:rPr>
              <a:t>VLM backend</a:t>
            </a:r>
            <a:endParaRPr lang="en-US" sz="1700"/>
          </a:p>
          <a:p>
            <a:pPr algn="c"/>
            <a:r>
              <a:rPr lang="en-US" sz="1700" dirty="0" b="1">
                <a:solidFill>
                  <a:srgbClr val="0F172A"/>
                </a:solidFill>
                <a:latin typeface="Aptos"/>
              </a:rPr>
              <a:t>Ollama dev</a:t>
            </a:r>
            <a:endParaRPr lang="en-US" sz="1700"/>
          </a:p>
          <a:p>
            <a:pPr algn="c"/>
            <a:r>
              <a:rPr lang="en-US" sz="1700" dirty="0" b="1">
                <a:solidFill>
                  <a:srgbClr val="0F172A"/>
                </a:solidFill>
                <a:latin typeface="Aptos"/>
              </a:rPr>
              <a:t>Cloudflare prod</a:t>
            </a:r>
            <a:endParaRPr lang="en-US" sz="1700"/>
          </a:p>
        </p:txBody>
      </p:sp>
      <p:sp>
        <p:nvSpPr>
          <p:cNvPr id="14" name="Shape 14"/>
          <p:cNvSpPr/>
          <p:nvPr/>
        </p:nvSpPr>
        <p:spPr>
          <a:xfrm>
            <a:off x="1600000" y="3450000"/>
            <a:ext cx="9000000" cy="1000000"/>
          </a:xfrm>
          <a:prstGeom prst="roundRect">
            <a:avLst/>
          </a:prstGeom>
          <a:solidFill>
            <a:srgbClr val="FFFFFF"/>
          </a:solidFill>
          <a:ln w="12700">
            <a:solidFill>
              <a:srgbClr val="CBD5E1"/>
            </a:solidFill>
          </a:ln>
        </p:spPr>
        <p:txBody>
          <a:bodyPr wrap="square" anchor="mid" lIns="152400" tIns="91440" rIns="152400" bIns="91440"/>
          <a:lstStyle/>
          <a:p>
            <a:pPr algn="c"/>
            <a:r>
              <a:rPr lang="en-US" sz="1900" dirty="0">
                <a:solidFill>
                  <a:srgbClr val="0F172A"/>
                </a:solidFill>
                <a:latin typeface="Aptos"/>
              </a:rPr>
              <a:t>Expected demo: ask for a scene description, read visible text, then search for a named object. Show timeout/error behavior if backend is unavailable.</a:t>
            </a:r>
            <a:endParaRPr lang="en-US" sz="1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3333333" cy="7500000"/>
          </a:xfrm>
          <a:prstGeom prst="rect">
            <a:avLst/>
          </a:prstGeom>
          <a:solidFill>
            <a:srgbClr val="F8FAFC"/>
          </a:solidFill>
          <a:ln>
            <a:noFill/>
          </a:ln>
        </p:spPr>
      </p:sp>
      <p:sp>
        <p:nvSpPr>
          <p:cNvPr id="3" name="Shape 3"/>
          <p:cNvSpPr/>
          <p:nvPr/>
        </p:nvSpPr>
        <p:spPr>
          <a:xfrm>
            <a:off x="0" y="0"/>
            <a:ext cx="145000" cy="7500000"/>
          </a:xfrm>
          <a:prstGeom prst="rect">
            <a:avLst/>
          </a:prstGeom>
          <a:solidFill>
            <a:srgbClr val="0EA5A4"/>
          </a:solidFill>
          <a:ln>
            <a:noFill/>
          </a:ln>
        </p:spPr>
      </p:sp>
      <p:sp>
        <p:nvSpPr>
          <p:cNvPr id="4" name="Shape 4"/>
          <p:cNvSpPr/>
          <p:nvPr/>
        </p:nvSpPr>
        <p:spPr>
          <a:xfrm>
            <a:off x="380000" y="260000"/>
            <a:ext cx="8500000" cy="600000"/>
          </a:xfrm>
          <a:prstGeom prst="rect">
            <a:avLst/>
          </a:prstGeom>
          <a:noFill/>
          <a:ln>
            <a:noFill/>
          </a:ln>
        </p:spPr>
        <p:txBody>
          <a:bodyPr wrap="square" anchor="mid" lIns="152400" tIns="91440" rIns="152400" bIns="91440"/>
          <a:lstStyle/>
          <a:p>
            <a:pPr algn="l"/>
            <a:r>
              <a:rPr lang="en-US" sz="3300" dirty="0" b="1">
                <a:solidFill>
                  <a:srgbClr val="0F172A"/>
                </a:solidFill>
                <a:latin typeface="Aptos"/>
              </a:rPr>
              <a:t>Sprint 2 Achievements</a:t>
            </a:r>
            <a:endParaRPr lang="en-US" sz="3300"/>
          </a:p>
        </p:txBody>
      </p:sp>
      <p:sp>
        <p:nvSpPr>
          <p:cNvPr id="5" name="Shape 5"/>
          <p:cNvSpPr/>
          <p:nvPr/>
        </p:nvSpPr>
        <p:spPr>
          <a:xfrm>
            <a:off x="400000" y="850000"/>
            <a:ext cx="7600000" cy="380000"/>
          </a:xfrm>
          <a:prstGeom prst="rect">
            <a:avLst/>
          </a:prstGeom>
          <a:noFill/>
          <a:ln>
            <a:noFill/>
          </a:ln>
        </p:spPr>
        <p:txBody>
          <a:bodyPr wrap="square" anchor="mid" lIns="152400" tIns="91440" rIns="152400" bIns="91440"/>
          <a:lstStyle/>
          <a:p>
            <a:pPr algn="l"/>
            <a:r>
              <a:rPr lang="en-US" sz="1850" dirty="0">
                <a:solidFill>
                  <a:srgbClr val="475569"/>
                </a:solidFill>
                <a:latin typeface="Aptos"/>
              </a:rPr>
              <a:t>What the group can confidently demonstrate.</a:t>
            </a:r>
            <a:endParaRPr lang="en-US" sz="1850"/>
          </a:p>
        </p:txBody>
      </p:sp>
      <p:sp>
        <p:nvSpPr>
          <p:cNvPr id="6" name="Shape 6"/>
          <p:cNvSpPr/>
          <p:nvPr/>
        </p:nvSpPr>
        <p:spPr>
          <a:xfrm>
            <a:off x="400000" y="7130000"/>
            <a:ext cx="5200000" cy="210000"/>
          </a:xfrm>
          <a:prstGeom prst="rect">
            <a:avLst/>
          </a:prstGeom>
          <a:noFill/>
          <a:ln>
            <a:noFill/>
          </a:ln>
        </p:spPr>
        <p:txBody>
          <a:bodyPr wrap="square" anchor="mid" lIns="152400" tIns="91440" rIns="152400" bIns="91440"/>
          <a:lstStyle/>
          <a:p>
            <a:pPr algn="l"/>
            <a:r>
              <a:rPr lang="en-US" sz="1050" dirty="0">
                <a:solidFill>
                  <a:srgbClr val="64748B"/>
                </a:solidFill>
                <a:latin typeface="Aptos"/>
              </a:rPr>
              <a:t>VoiceEye | Sprint 2 Demo</a:t>
            </a:r>
            <a:endParaRPr lang="en-US" sz="1050"/>
          </a:p>
        </p:txBody>
      </p:sp>
      <p:sp>
        <p:nvSpPr>
          <p:cNvPr id="7" name="Shape 7"/>
          <p:cNvSpPr/>
          <p:nvPr/>
        </p:nvSpPr>
        <p:spPr>
          <a:xfrm>
            <a:off x="700000" y="1500000"/>
            <a:ext cx="6000000" cy="390000"/>
          </a:xfrm>
          <a:prstGeom prst="rect">
            <a:avLst/>
          </a:prstGeom>
          <a:noFill/>
          <a:ln>
            <a:noFill/>
          </a:ln>
        </p:spPr>
        <p:txBody>
          <a:bodyPr wrap="square" anchor="mid" lIns="152400" tIns="91440" rIns="152400" bIns="91440"/>
          <a:lstStyle/>
          <a:p>
            <a:pPr algn="l"/>
            <a:r>
              <a:rPr lang="en-US" sz="1900" dirty="0">
                <a:solidFill>
                  <a:srgbClr val="1E293B"/>
                </a:solidFill>
                <a:latin typeface="Aptos"/>
              </a:rPr>
              <a:t>• Mobile-first React/Vite app with camera, overlays, settings, and accessible status messaging.</a:t>
            </a:r>
            <a:endParaRPr lang="en-US" sz="1900"/>
          </a:p>
        </p:txBody>
      </p:sp>
      <p:sp>
        <p:nvSpPr>
          <p:cNvPr id="8" name="Shape 8"/>
          <p:cNvSpPr/>
          <p:nvPr/>
        </p:nvSpPr>
        <p:spPr>
          <a:xfrm>
            <a:off x="700000" y="1980000"/>
            <a:ext cx="6000000" cy="390000"/>
          </a:xfrm>
          <a:prstGeom prst="rect">
            <a:avLst/>
          </a:prstGeom>
          <a:noFill/>
          <a:ln>
            <a:noFill/>
          </a:ln>
        </p:spPr>
        <p:txBody>
          <a:bodyPr wrap="square" anchor="mid" lIns="152400" tIns="91440" rIns="152400" bIns="91440"/>
          <a:lstStyle/>
          <a:p>
            <a:pPr algn="l"/>
            <a:r>
              <a:rPr lang="en-US" sz="1900" dirty="0">
                <a:solidFill>
                  <a:srgbClr val="1E293B"/>
                </a:solidFill>
                <a:latin typeface="Aptos"/>
              </a:rPr>
              <a:t>• Fast Lane detection loop wired to ONNX Runtime Web, tracking, distance, and attention.</a:t>
            </a:r>
            <a:endParaRPr lang="en-US" sz="1900"/>
          </a:p>
        </p:txBody>
      </p:sp>
      <p:sp>
        <p:nvSpPr>
          <p:cNvPr id="9" name="Shape 9"/>
          <p:cNvSpPr/>
          <p:nvPr/>
        </p:nvSpPr>
        <p:spPr>
          <a:xfrm>
            <a:off x="700000" y="2460000"/>
            <a:ext cx="6000000" cy="390000"/>
          </a:xfrm>
          <a:prstGeom prst="rect">
            <a:avLst/>
          </a:prstGeom>
          <a:noFill/>
          <a:ln>
            <a:noFill/>
          </a:ln>
        </p:spPr>
        <p:txBody>
          <a:bodyPr wrap="square" anchor="mid" lIns="152400" tIns="91440" rIns="152400" bIns="91440"/>
          <a:lstStyle/>
          <a:p>
            <a:pPr algn="l"/>
            <a:r>
              <a:rPr lang="en-US" sz="1900" dirty="0">
                <a:solidFill>
                  <a:srgbClr val="1E293B"/>
                </a:solidFill>
                <a:latin typeface="Aptos"/>
              </a:rPr>
              <a:t>• Slow Lane Describe / Read / Search request flow with local and Cloudflare endpoint options.</a:t>
            </a:r>
            <a:endParaRPr lang="en-US" sz="1900"/>
          </a:p>
        </p:txBody>
      </p:sp>
      <p:sp>
        <p:nvSpPr>
          <p:cNvPr id="10" name="Shape 10"/>
          <p:cNvSpPr/>
          <p:nvPr/>
        </p:nvSpPr>
        <p:spPr>
          <a:xfrm>
            <a:off x="700000" y="2940000"/>
            <a:ext cx="6000000" cy="390000"/>
          </a:xfrm>
          <a:prstGeom prst="rect">
            <a:avLst/>
          </a:prstGeom>
          <a:noFill/>
          <a:ln>
            <a:noFill/>
          </a:ln>
        </p:spPr>
        <p:txBody>
          <a:bodyPr wrap="square" anchor="mid" lIns="152400" tIns="91440" rIns="152400" bIns="91440"/>
          <a:lstStyle/>
          <a:p>
            <a:pPr algn="l"/>
            <a:r>
              <a:rPr lang="en-US" sz="1900" dirty="0">
                <a:solidFill>
                  <a:srgbClr val="1E293B"/>
                </a:solidFill>
                <a:latin typeface="Aptos"/>
              </a:rPr>
              <a:t>• Wake-word command parser and audio feedback using browser APIs.</a:t>
            </a:r>
            <a:endParaRPr lang="en-US" sz="1900"/>
          </a:p>
        </p:txBody>
      </p:sp>
      <p:sp>
        <p:nvSpPr>
          <p:cNvPr id="11" name="Shape 11"/>
          <p:cNvSpPr/>
          <p:nvPr/>
        </p:nvSpPr>
        <p:spPr>
          <a:xfrm>
            <a:off x="700000" y="3420000"/>
            <a:ext cx="6000000" cy="390000"/>
          </a:xfrm>
          <a:prstGeom prst="rect">
            <a:avLst/>
          </a:prstGeom>
          <a:noFill/>
          <a:ln>
            <a:noFill/>
          </a:ln>
        </p:spPr>
        <p:txBody>
          <a:bodyPr wrap="square" anchor="mid" lIns="152400" tIns="91440" rIns="152400" bIns="91440"/>
          <a:lstStyle/>
          <a:p>
            <a:pPr algn="l"/>
            <a:r>
              <a:rPr lang="en-US" sz="1900" dirty="0">
                <a:solidFill>
                  <a:srgbClr val="1E293B"/>
                </a:solidFill>
                <a:latin typeface="Aptos"/>
              </a:rPr>
              <a:t>• 95 frontend tests passing and production build verified.</a:t>
            </a:r>
            <a:endParaRPr lang="en-US" sz="1900"/>
          </a:p>
        </p:txBody>
      </p:sp>
      <p:sp>
        <p:nvSpPr>
          <p:cNvPr id="12" name="Shape 12"/>
          <p:cNvSpPr/>
          <p:nvPr/>
        </p:nvSpPr>
        <p:spPr>
          <a:xfrm>
            <a:off x="7900000" y="1700000"/>
            <a:ext cx="3600000" cy="950000"/>
          </a:xfrm>
          <a:prstGeom prst="roundRect">
            <a:avLst/>
          </a:prstGeom>
          <a:solidFill>
            <a:srgbClr val="DCFCE7"/>
          </a:solidFill>
          <a:ln w="12700">
            <a:solidFill>
              <a:srgbClr val="16A34A"/>
            </a:solidFill>
          </a:ln>
        </p:spPr>
        <p:txBody>
          <a:bodyPr wrap="square" anchor="mid" lIns="152400" tIns="91440" rIns="152400" bIns="91440"/>
          <a:lstStyle/>
          <a:p>
            <a:pPr algn="c"/>
            <a:r>
              <a:rPr lang="en-US" sz="2700" dirty="0" b="1">
                <a:solidFill>
                  <a:srgbClr val="14532D"/>
                </a:solidFill>
                <a:latin typeface="Aptos"/>
              </a:rPr>
              <a:t>95 tests</a:t>
            </a:r>
            <a:endParaRPr lang="en-US" sz="2700"/>
          </a:p>
          <a:p>
            <a:pPr algn="c"/>
            <a:r>
              <a:rPr lang="en-US" sz="2700" dirty="0" b="1">
                <a:solidFill>
                  <a:srgbClr val="14532D"/>
                </a:solidFill>
                <a:latin typeface="Aptos"/>
              </a:rPr>
              <a:t>passed</a:t>
            </a:r>
            <a:endParaRPr lang="en-US" sz="2700"/>
          </a:p>
        </p:txBody>
      </p:sp>
      <p:sp>
        <p:nvSpPr>
          <p:cNvPr id="13" name="Shape 13"/>
          <p:cNvSpPr/>
          <p:nvPr/>
        </p:nvSpPr>
        <p:spPr>
          <a:xfrm>
            <a:off x="7900000" y="3050000"/>
            <a:ext cx="3600000" cy="950000"/>
          </a:xfrm>
          <a:prstGeom prst="roundRect">
            <a:avLst/>
          </a:prstGeom>
          <a:solidFill>
            <a:srgbClr val="DBEAFE"/>
          </a:solidFill>
          <a:ln w="12700">
            <a:solidFill>
              <a:srgbClr val="2563EB"/>
            </a:solidFill>
          </a:ln>
        </p:spPr>
        <p:txBody>
          <a:bodyPr wrap="square" anchor="mid" lIns="152400" tIns="91440" rIns="152400" bIns="91440"/>
          <a:lstStyle/>
          <a:p>
            <a:pPr algn="c"/>
            <a:r>
              <a:rPr lang="en-US" sz="2550" dirty="0" b="1">
                <a:solidFill>
                  <a:srgbClr val="1E3A8A"/>
                </a:solidFill>
                <a:latin typeface="Aptos"/>
              </a:rPr>
              <a:t>Production</a:t>
            </a:r>
            <a:endParaRPr lang="en-US" sz="2550"/>
          </a:p>
          <a:p>
            <a:pPr algn="c"/>
            <a:r>
              <a:rPr lang="en-US" sz="2550" dirty="0" b="1">
                <a:solidFill>
                  <a:srgbClr val="1E3A8A"/>
                </a:solidFill>
                <a:latin typeface="Aptos"/>
              </a:rPr>
              <a:t>build passed</a:t>
            </a:r>
            <a:endParaRPr lang="en-US" sz="25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3333333" cy="7500000"/>
          </a:xfrm>
          <a:prstGeom prst="rect">
            <a:avLst/>
          </a:prstGeom>
          <a:solidFill>
            <a:srgbClr val="F8FAFC"/>
          </a:solidFill>
          <a:ln>
            <a:noFill/>
          </a:ln>
        </p:spPr>
      </p:sp>
      <p:sp>
        <p:nvSpPr>
          <p:cNvPr id="3" name="Shape 3"/>
          <p:cNvSpPr/>
          <p:nvPr/>
        </p:nvSpPr>
        <p:spPr>
          <a:xfrm>
            <a:off x="0" y="0"/>
            <a:ext cx="145000" cy="7500000"/>
          </a:xfrm>
          <a:prstGeom prst="rect">
            <a:avLst/>
          </a:prstGeom>
          <a:solidFill>
            <a:srgbClr val="0EA5A4"/>
          </a:solidFill>
          <a:ln>
            <a:noFill/>
          </a:ln>
        </p:spPr>
      </p:sp>
      <p:sp>
        <p:nvSpPr>
          <p:cNvPr id="4" name="Shape 4"/>
          <p:cNvSpPr/>
          <p:nvPr/>
        </p:nvSpPr>
        <p:spPr>
          <a:xfrm>
            <a:off x="380000" y="260000"/>
            <a:ext cx="8500000" cy="600000"/>
          </a:xfrm>
          <a:prstGeom prst="rect">
            <a:avLst/>
          </a:prstGeom>
          <a:noFill/>
          <a:ln>
            <a:noFill/>
          </a:ln>
        </p:spPr>
        <p:txBody>
          <a:bodyPr wrap="square" anchor="mid" lIns="152400" tIns="91440" rIns="152400" bIns="91440"/>
          <a:lstStyle/>
          <a:p>
            <a:pPr algn="l"/>
            <a:r>
              <a:rPr lang="en-US" sz="3300" dirty="0" b="1">
                <a:solidFill>
                  <a:srgbClr val="0F172A"/>
                </a:solidFill>
                <a:latin typeface="Aptos"/>
              </a:rPr>
              <a:t>Known Limitations</a:t>
            </a:r>
            <a:endParaRPr lang="en-US" sz="3300"/>
          </a:p>
        </p:txBody>
      </p:sp>
      <p:sp>
        <p:nvSpPr>
          <p:cNvPr id="5" name="Shape 5"/>
          <p:cNvSpPr/>
          <p:nvPr/>
        </p:nvSpPr>
        <p:spPr>
          <a:xfrm>
            <a:off x="400000" y="850000"/>
            <a:ext cx="7600000" cy="380000"/>
          </a:xfrm>
          <a:prstGeom prst="rect">
            <a:avLst/>
          </a:prstGeom>
          <a:noFill/>
          <a:ln>
            <a:noFill/>
          </a:ln>
        </p:spPr>
        <p:txBody>
          <a:bodyPr wrap="square" anchor="mid" lIns="152400" tIns="91440" rIns="152400" bIns="91440"/>
          <a:lstStyle/>
          <a:p>
            <a:pPr algn="l"/>
            <a:r>
              <a:rPr lang="en-US" sz="1850" dirty="0">
                <a:solidFill>
                  <a:srgbClr val="475569"/>
                </a:solidFill>
                <a:latin typeface="Aptos"/>
              </a:rPr>
              <a:t>Be clear about what is still being validated.</a:t>
            </a:r>
            <a:endParaRPr lang="en-US" sz="1850"/>
          </a:p>
        </p:txBody>
      </p:sp>
      <p:sp>
        <p:nvSpPr>
          <p:cNvPr id="6" name="Shape 6"/>
          <p:cNvSpPr/>
          <p:nvPr/>
        </p:nvSpPr>
        <p:spPr>
          <a:xfrm>
            <a:off x="400000" y="7130000"/>
            <a:ext cx="5200000" cy="210000"/>
          </a:xfrm>
          <a:prstGeom prst="rect">
            <a:avLst/>
          </a:prstGeom>
          <a:noFill/>
          <a:ln>
            <a:noFill/>
          </a:ln>
        </p:spPr>
        <p:txBody>
          <a:bodyPr wrap="square" anchor="mid" lIns="152400" tIns="91440" rIns="152400" bIns="91440"/>
          <a:lstStyle/>
          <a:p>
            <a:pPr algn="l"/>
            <a:r>
              <a:rPr lang="en-US" sz="1050" dirty="0">
                <a:solidFill>
                  <a:srgbClr val="64748B"/>
                </a:solidFill>
                <a:latin typeface="Aptos"/>
              </a:rPr>
              <a:t>VoiceEye | Sprint 2 Demo</a:t>
            </a:r>
            <a:endParaRPr lang="en-US" sz="1050"/>
          </a:p>
        </p:txBody>
      </p:sp>
      <p:sp>
        <p:nvSpPr>
          <p:cNvPr id="7" name="Shape 7"/>
          <p:cNvSpPr/>
          <p:nvPr/>
        </p:nvSpPr>
        <p:spPr>
          <a:xfrm>
            <a:off x="700000" y="1500000"/>
            <a:ext cx="6000000" cy="390000"/>
          </a:xfrm>
          <a:prstGeom prst="rect">
            <a:avLst/>
          </a:prstGeom>
          <a:noFill/>
          <a:ln>
            <a:noFill/>
          </a:ln>
        </p:spPr>
        <p:txBody>
          <a:bodyPr wrap="square" anchor="mid" lIns="152400" tIns="91440" rIns="152400" bIns="91440"/>
          <a:lstStyle/>
          <a:p>
            <a:pPr algn="l"/>
            <a:r>
              <a:rPr lang="en-US" sz="1900" dirty="0">
                <a:solidFill>
                  <a:srgbClr val="1E293B"/>
                </a:solidFill>
                <a:latin typeface="Aptos"/>
              </a:rPr>
              <a:t>• Phone FPS, memory, battery, and thermal behavior still need measured benchmark results.</a:t>
            </a:r>
            <a:endParaRPr lang="en-US" sz="1900"/>
          </a:p>
        </p:txBody>
      </p:sp>
      <p:sp>
        <p:nvSpPr>
          <p:cNvPr id="8" name="Shape 8"/>
          <p:cNvSpPr/>
          <p:nvPr/>
        </p:nvSpPr>
        <p:spPr>
          <a:xfrm>
            <a:off x="700000" y="1980000"/>
            <a:ext cx="6000000" cy="390000"/>
          </a:xfrm>
          <a:prstGeom prst="rect">
            <a:avLst/>
          </a:prstGeom>
          <a:noFill/>
          <a:ln>
            <a:noFill/>
          </a:ln>
        </p:spPr>
        <p:txBody>
          <a:bodyPr wrap="square" anchor="mid" lIns="152400" tIns="91440" rIns="152400" bIns="91440"/>
          <a:lstStyle/>
          <a:p>
            <a:pPr algn="l"/>
            <a:r>
              <a:rPr lang="en-US" sz="1900" dirty="0">
                <a:solidFill>
                  <a:srgbClr val="1E293B"/>
                </a:solidFill>
                <a:latin typeface="Aptos"/>
              </a:rPr>
              <a:t>• Slow Lane quality needs live comparison across local Ollama and Cloudflare Workers AI.</a:t>
            </a:r>
            <a:endParaRPr lang="en-US" sz="1900"/>
          </a:p>
        </p:txBody>
      </p:sp>
      <p:sp>
        <p:nvSpPr>
          <p:cNvPr id="9" name="Shape 9"/>
          <p:cNvSpPr/>
          <p:nvPr/>
        </p:nvSpPr>
        <p:spPr>
          <a:xfrm>
            <a:off x="700000" y="2460000"/>
            <a:ext cx="6000000" cy="390000"/>
          </a:xfrm>
          <a:prstGeom prst="rect">
            <a:avLst/>
          </a:prstGeom>
          <a:noFill/>
          <a:ln>
            <a:noFill/>
          </a:ln>
        </p:spPr>
        <p:txBody>
          <a:bodyPr wrap="square" anchor="mid" lIns="152400" tIns="91440" rIns="152400" bIns="91440"/>
          <a:lstStyle/>
          <a:p>
            <a:pPr algn="l"/>
            <a:r>
              <a:rPr lang="en-US" sz="1900" dirty="0">
                <a:solidFill>
                  <a:srgbClr val="1E293B"/>
                </a:solidFill>
                <a:latin typeface="Aptos"/>
              </a:rPr>
              <a:t>• SpeechRecognition and haptics vary by browser and device.</a:t>
            </a:r>
            <a:endParaRPr lang="en-US" sz="1900"/>
          </a:p>
        </p:txBody>
      </p:sp>
      <p:sp>
        <p:nvSpPr>
          <p:cNvPr id="10" name="Shape 10"/>
          <p:cNvSpPr/>
          <p:nvPr/>
        </p:nvSpPr>
        <p:spPr>
          <a:xfrm>
            <a:off x="700000" y="2940000"/>
            <a:ext cx="6000000" cy="390000"/>
          </a:xfrm>
          <a:prstGeom prst="rect">
            <a:avLst/>
          </a:prstGeom>
          <a:noFill/>
          <a:ln>
            <a:noFill/>
          </a:ln>
        </p:spPr>
        <p:txBody>
          <a:bodyPr wrap="square" anchor="mid" lIns="152400" tIns="91440" rIns="152400" bIns="91440"/>
          <a:lstStyle/>
          <a:p>
            <a:pPr algn="l"/>
            <a:r>
              <a:rPr lang="en-US" sz="1900" dirty="0">
                <a:solidFill>
                  <a:srgbClr val="1E293B"/>
                </a:solidFill>
                <a:latin typeface="Aptos"/>
              </a:rPr>
              <a:t>• Distance estimates are approximate and require device calibration.</a:t>
            </a:r>
            <a:endParaRPr lang="en-US" sz="1900"/>
          </a:p>
        </p:txBody>
      </p:sp>
      <p:sp>
        <p:nvSpPr>
          <p:cNvPr id="11" name="Shape 11"/>
          <p:cNvSpPr/>
          <p:nvPr/>
        </p:nvSpPr>
        <p:spPr>
          <a:xfrm>
            <a:off x="700000" y="3420000"/>
            <a:ext cx="6000000" cy="390000"/>
          </a:xfrm>
          <a:prstGeom prst="rect">
            <a:avLst/>
          </a:prstGeom>
          <a:noFill/>
          <a:ln>
            <a:noFill/>
          </a:ln>
        </p:spPr>
        <p:txBody>
          <a:bodyPr wrap="square" anchor="mid" lIns="152400" tIns="91440" rIns="152400" bIns="91440"/>
          <a:lstStyle/>
          <a:p>
            <a:pPr algn="l"/>
            <a:r>
              <a:rPr lang="en-US" sz="1900" dirty="0">
                <a:solidFill>
                  <a:srgbClr val="1E293B"/>
                </a:solidFill>
                <a:latin typeface="Aptos"/>
              </a:rPr>
              <a:t>• Python data-prep tests need a restored environment with pytest installed.</a:t>
            </a:r>
            <a:endParaRPr lang="en-US" sz="1900"/>
          </a:p>
        </p:txBody>
      </p:sp>
      <p:sp>
        <p:nvSpPr>
          <p:cNvPr id="12" name="Shape 12"/>
          <p:cNvSpPr/>
          <p:nvPr/>
        </p:nvSpPr>
        <p:spPr>
          <a:xfrm>
            <a:off x="8100000" y="1850000"/>
            <a:ext cx="3100000" cy="1700000"/>
          </a:xfrm>
          <a:prstGeom prst="roundRect">
            <a:avLst/>
          </a:prstGeom>
          <a:solidFill>
            <a:srgbClr val="FFF7ED"/>
          </a:solidFill>
          <a:ln w="12700">
            <a:solidFill>
              <a:srgbClr val="EA580C"/>
            </a:solidFill>
          </a:ln>
        </p:spPr>
        <p:txBody>
          <a:bodyPr wrap="square" anchor="mid" lIns="152400" tIns="91440" rIns="152400" bIns="91440"/>
          <a:lstStyle/>
          <a:p>
            <a:pPr algn="c"/>
            <a:r>
              <a:rPr lang="en-US" sz="2200" dirty="0" b="1">
                <a:solidFill>
                  <a:srgbClr val="7C2D12"/>
                </a:solidFill>
                <a:latin typeface="Aptos"/>
              </a:rPr>
              <a:t>Demo stance</a:t>
            </a:r>
            <a:endParaRPr lang="en-US" sz="2200"/>
          </a:p>
          <a:p>
            <a:pPr algn="c"/>
            <a:r>
              <a:rPr lang="en-US" sz="2200" dirty="0" b="1">
                <a:solidFill>
                  <a:srgbClr val="7C2D12"/>
                </a:solidFill>
                <a:latin typeface="Aptos"/>
              </a:rPr>
              <a:t>Show working flow</a:t>
            </a:r>
            <a:endParaRPr lang="en-US" sz="2200"/>
          </a:p>
          <a:p>
            <a:pPr algn="c"/>
            <a:r>
              <a:rPr lang="en-US" sz="2200" dirty="0" b="1">
                <a:solidFill>
                  <a:srgbClr val="7C2D12"/>
                </a:solidFill>
                <a:latin typeface="Aptos"/>
              </a:rPr>
              <a:t>Name validation gaps</a:t>
            </a:r>
            <a:endParaRPr lang="en-US" sz="2200"/>
          </a:p>
          <a:p>
            <a:pPr algn="c"/>
            <a:r>
              <a:rPr lang="en-US" sz="2200" dirty="0" b="1">
                <a:solidFill>
                  <a:srgbClr val="7C2D12"/>
                </a:solidFill>
                <a:latin typeface="Aptos"/>
              </a:rPr>
              <a:t>Explain Sprint 3 plan</a:t>
            </a:r>
            <a:endParaRPr lang="en-US" sz="2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3333333" cy="7500000"/>
          </a:xfrm>
          <a:prstGeom prst="rect">
            <a:avLst/>
          </a:prstGeom>
          <a:solidFill>
            <a:srgbClr val="F8FAFC"/>
          </a:solidFill>
          <a:ln>
            <a:noFill/>
          </a:ln>
        </p:spPr>
      </p:sp>
      <p:sp>
        <p:nvSpPr>
          <p:cNvPr id="3" name="Shape 3"/>
          <p:cNvSpPr/>
          <p:nvPr/>
        </p:nvSpPr>
        <p:spPr>
          <a:xfrm>
            <a:off x="0" y="0"/>
            <a:ext cx="145000" cy="7500000"/>
          </a:xfrm>
          <a:prstGeom prst="rect">
            <a:avLst/>
          </a:prstGeom>
          <a:solidFill>
            <a:srgbClr val="0EA5A4"/>
          </a:solidFill>
          <a:ln>
            <a:noFill/>
          </a:ln>
        </p:spPr>
      </p:sp>
      <p:sp>
        <p:nvSpPr>
          <p:cNvPr id="4" name="Shape 4"/>
          <p:cNvSpPr/>
          <p:nvPr/>
        </p:nvSpPr>
        <p:spPr>
          <a:xfrm>
            <a:off x="380000" y="260000"/>
            <a:ext cx="8500000" cy="600000"/>
          </a:xfrm>
          <a:prstGeom prst="rect">
            <a:avLst/>
          </a:prstGeom>
          <a:noFill/>
          <a:ln>
            <a:noFill/>
          </a:ln>
        </p:spPr>
        <p:txBody>
          <a:bodyPr wrap="square" anchor="mid" lIns="152400" tIns="91440" rIns="152400" bIns="91440"/>
          <a:lstStyle/>
          <a:p>
            <a:pPr algn="l"/>
            <a:r>
              <a:rPr lang="en-US" sz="3300" dirty="0" b="1">
                <a:solidFill>
                  <a:srgbClr val="0F172A"/>
                </a:solidFill>
                <a:latin typeface="Aptos"/>
              </a:rPr>
              <a:t>Sprint 3 Plan</a:t>
            </a:r>
            <a:endParaRPr lang="en-US" sz="3300"/>
          </a:p>
        </p:txBody>
      </p:sp>
      <p:sp>
        <p:nvSpPr>
          <p:cNvPr id="5" name="Shape 5"/>
          <p:cNvSpPr/>
          <p:nvPr/>
        </p:nvSpPr>
        <p:spPr>
          <a:xfrm>
            <a:off x="400000" y="850000"/>
            <a:ext cx="7600000" cy="380000"/>
          </a:xfrm>
          <a:prstGeom prst="rect">
            <a:avLst/>
          </a:prstGeom>
          <a:noFill/>
          <a:ln>
            <a:noFill/>
          </a:ln>
        </p:spPr>
        <p:txBody>
          <a:bodyPr wrap="square" anchor="mid" lIns="152400" tIns="91440" rIns="152400" bIns="91440"/>
          <a:lstStyle/>
          <a:p>
            <a:pPr algn="l"/>
            <a:r>
              <a:rPr lang="en-US" sz="1850" dirty="0">
                <a:solidFill>
                  <a:srgbClr val="475569"/>
                </a:solidFill>
                <a:latin typeface="Aptos"/>
              </a:rPr>
              <a:t>Turn the prototype into a measured, demo-stable build.</a:t>
            </a:r>
            <a:endParaRPr lang="en-US" sz="1850"/>
          </a:p>
        </p:txBody>
      </p:sp>
      <p:sp>
        <p:nvSpPr>
          <p:cNvPr id="6" name="Shape 6"/>
          <p:cNvSpPr/>
          <p:nvPr/>
        </p:nvSpPr>
        <p:spPr>
          <a:xfrm>
            <a:off x="400000" y="7130000"/>
            <a:ext cx="5200000" cy="210000"/>
          </a:xfrm>
          <a:prstGeom prst="rect">
            <a:avLst/>
          </a:prstGeom>
          <a:noFill/>
          <a:ln>
            <a:noFill/>
          </a:ln>
        </p:spPr>
        <p:txBody>
          <a:bodyPr wrap="square" anchor="mid" lIns="152400" tIns="91440" rIns="152400" bIns="91440"/>
          <a:lstStyle/>
          <a:p>
            <a:pPr algn="l"/>
            <a:r>
              <a:rPr lang="en-US" sz="1050" dirty="0">
                <a:solidFill>
                  <a:srgbClr val="64748B"/>
                </a:solidFill>
                <a:latin typeface="Aptos"/>
              </a:rPr>
              <a:t>VoiceEye | Sprint 2 Demo</a:t>
            </a:r>
            <a:endParaRPr lang="en-US" sz="1050"/>
          </a:p>
        </p:txBody>
      </p:sp>
      <p:cxnSp>
        <p:nvCxnSpPr>
          <p:cNvPr id="7" name="Connector 7"/>
          <p:cNvCxnSpPr/>
          <p:nvPr/>
        </p:nvCxnSpPr>
        <p:spPr>
          <a:xfrm>
            <a:off x="2950000" y="2050000"/>
            <a:ext cx="400000" cy="1"/>
          </a:xfrm>
          <a:prstGeom prst="line">
            <a:avLst/>
          </a:prstGeom>
          <a:ln w="19050">
            <a:solidFill>
              <a:srgbClr val="334155"/>
            </a:solidFill>
            <a:tailEnd type="triangle"/>
          </a:ln>
        </p:spPr>
      </p:cxnSp>
      <p:cxnSp>
        <p:nvCxnSpPr>
          <p:cNvPr id="8" name="Connector 8"/>
          <p:cNvCxnSpPr/>
          <p:nvPr/>
        </p:nvCxnSpPr>
        <p:spPr>
          <a:xfrm>
            <a:off x="5650000" y="2050000"/>
            <a:ext cx="400000" cy="1"/>
          </a:xfrm>
          <a:prstGeom prst="line">
            <a:avLst/>
          </a:prstGeom>
          <a:ln w="19050">
            <a:solidFill>
              <a:srgbClr val="334155"/>
            </a:solidFill>
            <a:tailEnd type="triangle"/>
          </a:ln>
        </p:spPr>
      </p:cxnSp>
      <p:cxnSp>
        <p:nvCxnSpPr>
          <p:cNvPr id="9" name="Connector 9"/>
          <p:cNvCxnSpPr/>
          <p:nvPr/>
        </p:nvCxnSpPr>
        <p:spPr>
          <a:xfrm>
            <a:off x="8350000" y="2050000"/>
            <a:ext cx="400000" cy="1"/>
          </a:xfrm>
          <a:prstGeom prst="line">
            <a:avLst/>
          </a:prstGeom>
          <a:ln w="19050">
            <a:solidFill>
              <a:srgbClr val="334155"/>
            </a:solidFill>
            <a:tailEnd type="triangle"/>
          </a:ln>
        </p:spPr>
      </p:cxnSp>
      <p:cxnSp>
        <p:nvCxnSpPr>
          <p:cNvPr id="10" name="Connector 10"/>
          <p:cNvCxnSpPr/>
          <p:nvPr/>
        </p:nvCxnSpPr>
        <p:spPr>
          <a:xfrm>
            <a:off x="9900000" y="2500000"/>
            <a:ext cx="1" cy="850000"/>
          </a:xfrm>
          <a:prstGeom prst="line">
            <a:avLst/>
          </a:prstGeom>
          <a:ln w="19050">
            <a:solidFill>
              <a:srgbClr val="334155"/>
            </a:solidFill>
            <a:tailEnd type="triangle"/>
          </a:ln>
        </p:spPr>
      </p:cxnSp>
      <p:cxnSp>
        <p:nvCxnSpPr>
          <p:cNvPr id="11" name="Connector 11"/>
          <p:cNvCxnSpPr/>
          <p:nvPr/>
        </p:nvCxnSpPr>
        <p:spPr>
          <a:xfrm flipH="1">
            <a:off x="8350000" y="3800000"/>
            <a:ext cx="400000" cy="1"/>
          </a:xfrm>
          <a:prstGeom prst="line">
            <a:avLst/>
          </a:prstGeom>
          <a:ln w="19050">
            <a:solidFill>
              <a:srgbClr val="334155"/>
            </a:solidFill>
            <a:tailEnd type="triangle"/>
          </a:ln>
        </p:spPr>
      </p:cxnSp>
      <p:sp>
        <p:nvSpPr>
          <p:cNvPr id="12" name="Shape 12"/>
          <p:cNvSpPr/>
          <p:nvPr/>
        </p:nvSpPr>
        <p:spPr>
          <a:xfrm>
            <a:off x="650000" y="1600000"/>
            <a:ext cx="2300000" cy="900000"/>
          </a:xfrm>
          <a:prstGeom prst="roundRect">
            <a:avLst/>
          </a:prstGeom>
          <a:solidFill>
            <a:srgbClr val="EFF6FF"/>
          </a:solidFill>
          <a:ln w="12700">
            <a:solidFill>
              <a:srgbClr val="2563EB"/>
            </a:solidFill>
          </a:ln>
        </p:spPr>
        <p:txBody>
          <a:bodyPr wrap="square" anchor="mid" lIns="152400" tIns="91440" rIns="152400" bIns="91440"/>
          <a:lstStyle/>
          <a:p>
            <a:pPr algn="c"/>
            <a:r>
              <a:rPr lang="en-US" sz="1650" dirty="0">
                <a:solidFill>
                  <a:srgbClr val="0F172A"/>
                </a:solidFill>
                <a:latin typeface="Aptos"/>
              </a:rPr>
              <a:t>Model</a:t>
            </a:r>
            <a:endParaRPr lang="en-US" sz="1650"/>
          </a:p>
          <a:p>
            <a:pPr algn="c"/>
            <a:r>
              <a:rPr lang="en-US" sz="1650" dirty="0">
                <a:solidFill>
                  <a:srgbClr val="0F172A"/>
                </a:solidFill>
                <a:latin typeface="Aptos"/>
              </a:rPr>
              <a:t>promotion +</a:t>
            </a:r>
            <a:endParaRPr lang="en-US" sz="1650"/>
          </a:p>
          <a:p>
            <a:pPr algn="c"/>
            <a:r>
              <a:rPr lang="en-US" sz="1650" dirty="0">
                <a:solidFill>
                  <a:srgbClr val="0F172A"/>
                </a:solidFill>
                <a:latin typeface="Aptos"/>
              </a:rPr>
              <a:t>provenance</a:t>
            </a:r>
            <a:endParaRPr lang="en-US" sz="1650"/>
          </a:p>
        </p:txBody>
      </p:sp>
      <p:sp>
        <p:nvSpPr>
          <p:cNvPr id="13" name="Shape 13"/>
          <p:cNvSpPr/>
          <p:nvPr/>
        </p:nvSpPr>
        <p:spPr>
          <a:xfrm>
            <a:off x="3350000" y="1600000"/>
            <a:ext cx="2300000" cy="900000"/>
          </a:xfrm>
          <a:prstGeom prst="roundRect">
            <a:avLst/>
          </a:prstGeom>
          <a:solidFill>
            <a:srgbClr val="EFF6FF"/>
          </a:solidFill>
          <a:ln w="12700">
            <a:solidFill>
              <a:srgbClr val="2563EB"/>
            </a:solidFill>
          </a:ln>
        </p:spPr>
        <p:txBody>
          <a:bodyPr wrap="square" anchor="mid" lIns="152400" tIns="91440" rIns="152400" bIns="91440"/>
          <a:lstStyle/>
          <a:p>
            <a:pPr algn="c"/>
            <a:r>
              <a:rPr lang="en-US" sz="1650" dirty="0">
                <a:solidFill>
                  <a:srgbClr val="0F172A"/>
                </a:solidFill>
                <a:latin typeface="Aptos"/>
              </a:rPr>
              <a:t>Desktop + phone</a:t>
            </a:r>
            <a:endParaRPr lang="en-US" sz="1650"/>
          </a:p>
          <a:p>
            <a:pPr algn="c"/>
            <a:r>
              <a:rPr lang="en-US" sz="1650" dirty="0">
                <a:solidFill>
                  <a:srgbClr val="0F172A"/>
                </a:solidFill>
                <a:latin typeface="Aptos"/>
              </a:rPr>
              <a:t>benchmarks</a:t>
            </a:r>
            <a:endParaRPr lang="en-US" sz="1650"/>
          </a:p>
        </p:txBody>
      </p:sp>
      <p:sp>
        <p:nvSpPr>
          <p:cNvPr id="14" name="Shape 14"/>
          <p:cNvSpPr/>
          <p:nvPr/>
        </p:nvSpPr>
        <p:spPr>
          <a:xfrm>
            <a:off x="6050000" y="1600000"/>
            <a:ext cx="2300000" cy="900000"/>
          </a:xfrm>
          <a:prstGeom prst="roundRect">
            <a:avLst/>
          </a:prstGeom>
          <a:solidFill>
            <a:srgbClr val="F5F3FF"/>
          </a:solidFill>
          <a:ln w="12700">
            <a:solidFill>
              <a:srgbClr val="7C3AED"/>
            </a:solidFill>
          </a:ln>
        </p:spPr>
        <p:txBody>
          <a:bodyPr wrap="square" anchor="mid" lIns="152400" tIns="91440" rIns="152400" bIns="91440"/>
          <a:lstStyle/>
          <a:p>
            <a:pPr algn="c"/>
            <a:r>
              <a:rPr lang="en-US" sz="1650" dirty="0">
                <a:solidFill>
                  <a:srgbClr val="0F172A"/>
                </a:solidFill>
                <a:latin typeface="Aptos"/>
              </a:rPr>
              <a:t>Slow Lane</a:t>
            </a:r>
            <a:endParaRPr lang="en-US" sz="1650"/>
          </a:p>
          <a:p>
            <a:pPr algn="c"/>
            <a:r>
              <a:rPr lang="en-US" sz="1650" dirty="0">
                <a:solidFill>
                  <a:srgbClr val="0F172A"/>
                </a:solidFill>
                <a:latin typeface="Aptos"/>
              </a:rPr>
              <a:t>quality tests</a:t>
            </a:r>
            <a:endParaRPr lang="en-US" sz="1650"/>
          </a:p>
        </p:txBody>
      </p:sp>
      <p:sp>
        <p:nvSpPr>
          <p:cNvPr id="15" name="Shape 15"/>
          <p:cNvSpPr/>
          <p:nvPr/>
        </p:nvSpPr>
        <p:spPr>
          <a:xfrm>
            <a:off x="8750000" y="1600000"/>
            <a:ext cx="2300000" cy="900000"/>
          </a:xfrm>
          <a:prstGeom prst="roundRect">
            <a:avLst/>
          </a:prstGeom>
          <a:solidFill>
            <a:srgbClr val="FFF7ED"/>
          </a:solidFill>
          <a:ln w="12700">
            <a:solidFill>
              <a:srgbClr val="EA580C"/>
            </a:solidFill>
          </a:ln>
        </p:spPr>
        <p:txBody>
          <a:bodyPr wrap="square" anchor="mid" lIns="152400" tIns="91440" rIns="152400" bIns="91440"/>
          <a:lstStyle/>
          <a:p>
            <a:pPr algn="c"/>
            <a:r>
              <a:rPr lang="en-US" sz="1650" dirty="0">
                <a:solidFill>
                  <a:srgbClr val="0F172A"/>
                </a:solidFill>
                <a:latin typeface="Aptos"/>
              </a:rPr>
              <a:t>Hazard alert</a:t>
            </a:r>
            <a:endParaRPr lang="en-US" sz="1650"/>
          </a:p>
          <a:p>
            <a:pPr algn="c"/>
            <a:r>
              <a:rPr lang="en-US" sz="1650" dirty="0">
                <a:solidFill>
                  <a:srgbClr val="0F172A"/>
                </a:solidFill>
                <a:latin typeface="Aptos"/>
              </a:rPr>
              <a:t>calibration</a:t>
            </a:r>
            <a:endParaRPr lang="en-US" sz="1650"/>
          </a:p>
        </p:txBody>
      </p:sp>
      <p:sp>
        <p:nvSpPr>
          <p:cNvPr id="16" name="Shape 16"/>
          <p:cNvSpPr/>
          <p:nvPr/>
        </p:nvSpPr>
        <p:spPr>
          <a:xfrm>
            <a:off x="6050000" y="3350000"/>
            <a:ext cx="2300000" cy="900000"/>
          </a:xfrm>
          <a:prstGeom prst="roundRect">
            <a:avLst/>
          </a:prstGeom>
          <a:solidFill>
            <a:srgbClr val="ECFDF5"/>
          </a:solidFill>
          <a:ln w="12700">
            <a:solidFill>
              <a:srgbClr val="059669"/>
            </a:solidFill>
          </a:ln>
        </p:spPr>
        <p:txBody>
          <a:bodyPr wrap="square" anchor="mid" lIns="152400" tIns="91440" rIns="152400" bIns="91440"/>
          <a:lstStyle/>
          <a:p>
            <a:pPr algn="c"/>
            <a:r>
              <a:rPr lang="en-US" sz="1650" dirty="0">
                <a:solidFill>
                  <a:srgbClr val="0F172A"/>
                </a:solidFill>
                <a:latin typeface="Aptos"/>
              </a:rPr>
              <a:t>Accessibility</a:t>
            </a:r>
            <a:endParaRPr lang="en-US" sz="1650"/>
          </a:p>
          <a:p>
            <a:pPr algn="c"/>
            <a:r>
              <a:rPr lang="en-US" sz="1650" dirty="0">
                <a:solidFill>
                  <a:srgbClr val="0F172A"/>
                </a:solidFill>
                <a:latin typeface="Aptos"/>
              </a:rPr>
              <a:t>audit</a:t>
            </a:r>
            <a:endParaRPr lang="en-US" sz="1650"/>
          </a:p>
        </p:txBody>
      </p:sp>
      <p:sp>
        <p:nvSpPr>
          <p:cNvPr id="17" name="Shape 17"/>
          <p:cNvSpPr/>
          <p:nvPr/>
        </p:nvSpPr>
        <p:spPr>
          <a:xfrm>
            <a:off x="8750000" y="3350000"/>
            <a:ext cx="2300000" cy="900000"/>
          </a:xfrm>
          <a:prstGeom prst="roundRect">
            <a:avLst/>
          </a:prstGeom>
          <a:solidFill>
            <a:srgbClr val="ECFDF5"/>
          </a:solidFill>
          <a:ln w="12700">
            <a:solidFill>
              <a:srgbClr val="059669"/>
            </a:solidFill>
          </a:ln>
        </p:spPr>
        <p:txBody>
          <a:bodyPr wrap="square" anchor="mid" lIns="152400" tIns="91440" rIns="152400" bIns="91440"/>
          <a:lstStyle/>
          <a:p>
            <a:pPr algn="c"/>
            <a:r>
              <a:rPr lang="en-US" sz="1650" dirty="0">
                <a:solidFill>
                  <a:srgbClr val="0F172A"/>
                </a:solidFill>
                <a:latin typeface="Aptos"/>
              </a:rPr>
              <a:t>User testing</a:t>
            </a:r>
            <a:endParaRPr lang="en-US" sz="1650"/>
          </a:p>
          <a:p>
            <a:pPr algn="c"/>
            <a:r>
              <a:rPr lang="en-US" sz="1650" dirty="0">
                <a:solidFill>
                  <a:srgbClr val="0F172A"/>
                </a:solidFill>
                <a:latin typeface="Aptos"/>
              </a:rPr>
              <a:t>protocol</a:t>
            </a:r>
            <a:endParaRPr lang="en-US" sz="16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3333333" cy="7500000"/>
          </a:xfrm>
          <a:prstGeom prst="rect">
            <a:avLst/>
          </a:prstGeom>
          <a:solidFill>
            <a:srgbClr val="F8FAFC"/>
          </a:solidFill>
          <a:ln>
            <a:noFill/>
          </a:ln>
        </p:spPr>
      </p:sp>
      <p:sp>
        <p:nvSpPr>
          <p:cNvPr id="3" name="Shape 3"/>
          <p:cNvSpPr/>
          <p:nvPr/>
        </p:nvSpPr>
        <p:spPr>
          <a:xfrm>
            <a:off x="0" y="0"/>
            <a:ext cx="145000" cy="7500000"/>
          </a:xfrm>
          <a:prstGeom prst="rect">
            <a:avLst/>
          </a:prstGeom>
          <a:solidFill>
            <a:srgbClr val="0EA5A4"/>
          </a:solidFill>
          <a:ln>
            <a:noFill/>
          </a:ln>
        </p:spPr>
      </p:sp>
      <p:sp>
        <p:nvSpPr>
          <p:cNvPr id="4" name="Shape 4"/>
          <p:cNvSpPr/>
          <p:nvPr/>
        </p:nvSpPr>
        <p:spPr>
          <a:xfrm>
            <a:off x="380000" y="260000"/>
            <a:ext cx="8500000" cy="600000"/>
          </a:xfrm>
          <a:prstGeom prst="rect">
            <a:avLst/>
          </a:prstGeom>
          <a:noFill/>
          <a:ln>
            <a:noFill/>
          </a:ln>
        </p:spPr>
        <p:txBody>
          <a:bodyPr wrap="square" anchor="mid" lIns="152400" tIns="91440" rIns="152400" bIns="91440"/>
          <a:lstStyle/>
          <a:p>
            <a:pPr algn="l"/>
            <a:r>
              <a:rPr lang="en-US" sz="3300" dirty="0" b="1">
                <a:solidFill>
                  <a:srgbClr val="0F172A"/>
                </a:solidFill>
                <a:latin typeface="Aptos"/>
              </a:rPr>
              <a:t>Live Demo</a:t>
            </a:r>
            <a:endParaRPr lang="en-US" sz="3300"/>
          </a:p>
        </p:txBody>
      </p:sp>
      <p:sp>
        <p:nvSpPr>
          <p:cNvPr id="5" name="Shape 5"/>
          <p:cNvSpPr/>
          <p:nvPr/>
        </p:nvSpPr>
        <p:spPr>
          <a:xfrm>
            <a:off x="400000" y="850000"/>
            <a:ext cx="7600000" cy="380000"/>
          </a:xfrm>
          <a:prstGeom prst="rect">
            <a:avLst/>
          </a:prstGeom>
          <a:noFill/>
          <a:ln>
            <a:noFill/>
          </a:ln>
        </p:spPr>
        <p:txBody>
          <a:bodyPr wrap="square" anchor="mid" lIns="152400" tIns="91440" rIns="152400" bIns="91440"/>
          <a:lstStyle/>
          <a:p>
            <a:pPr algn="l"/>
            <a:r>
              <a:rPr lang="en-US" sz="1850" dirty="0">
                <a:solidFill>
                  <a:srgbClr val="475569"/>
                </a:solidFill>
                <a:latin typeface="Aptos"/>
              </a:rPr>
              <a:t>Switch to the phone — screen-mirror to the projector.</a:t>
            </a:r>
            <a:endParaRPr lang="en-US" sz="1850"/>
          </a:p>
        </p:txBody>
      </p:sp>
      <p:sp>
        <p:nvSpPr>
          <p:cNvPr id="6" name="Shape 6"/>
          <p:cNvSpPr/>
          <p:nvPr/>
        </p:nvSpPr>
        <p:spPr>
          <a:xfrm>
            <a:off x="400000" y="7130000"/>
            <a:ext cx="5200000" cy="210000"/>
          </a:xfrm>
          <a:prstGeom prst="rect">
            <a:avLst/>
          </a:prstGeom>
          <a:noFill/>
          <a:ln>
            <a:noFill/>
          </a:ln>
        </p:spPr>
        <p:txBody>
          <a:bodyPr wrap="square" anchor="mid" lIns="152400" tIns="91440" rIns="152400" bIns="91440"/>
          <a:lstStyle/>
          <a:p>
            <a:pPr algn="l"/>
            <a:r>
              <a:rPr lang="en-US" sz="1050" dirty="0">
                <a:solidFill>
                  <a:srgbClr val="64748B"/>
                </a:solidFill>
                <a:latin typeface="Aptos"/>
              </a:rPr>
              <a:t>VoiceEye | Sprint 2 Demo</a:t>
            </a:r>
            <a:endParaRPr lang="en-US" sz="1050"/>
          </a:p>
        </p:txBody>
      </p:sp>
      <p:sp>
        <p:nvSpPr>
          <p:cNvPr id="7" name="Shape 7"/>
          <p:cNvSpPr/>
          <p:nvPr/>
        </p:nvSpPr>
        <p:spPr>
          <a:xfrm>
            <a:off x="700000" y="1500000"/>
            <a:ext cx="5400000" cy="4400000"/>
          </a:xfrm>
          <a:prstGeom prst="roundRect">
            <a:avLst/>
          </a:prstGeom>
          <a:solidFill>
            <a:srgbClr val="0F172A"/>
          </a:solidFill>
          <a:ln>
            <a:noFill/>
          </a:ln>
        </p:spPr>
      </p:sp>
      <p:sp>
        <p:nvSpPr>
          <p:cNvPr id="8" name="Shape 8"/>
          <p:cNvSpPr/>
          <p:nvPr/>
        </p:nvSpPr>
        <p:spPr>
          <a:xfrm>
            <a:off x="900000" y="1750000"/>
            <a:ext cx="4900000" cy="500000"/>
          </a:xfrm>
          <a:prstGeom prst="roundRect">
            <a:avLst/>
          </a:prstGeom>
          <a:solidFill>
            <a:srgbClr val="111827"/>
          </a:solidFill>
          <a:ln w="12700">
            <a:solidFill>
              <a:srgbClr val="334155"/>
            </a:solidFill>
          </a:ln>
        </p:spPr>
        <p:txBody>
          <a:bodyPr wrap="square" anchor="mid" lIns="152400" tIns="91440" rIns="152400" bIns="91440"/>
          <a:lstStyle/>
          <a:p>
            <a:pPr algn="c"/>
            <a:r>
              <a:rPr lang="en-US" sz="1700" dirty="0" b="1">
                <a:solidFill>
                  <a:srgbClr val="E5E7EB"/>
                </a:solidFill>
                <a:latin typeface="Aptos"/>
              </a:rPr>
              <a:t>PHONE MIRROR</a:t>
            </a:r>
            <a:endParaRPr lang="en-US" sz="1700"/>
          </a:p>
        </p:txBody>
      </p:sp>
      <p:sp>
        <p:nvSpPr>
          <p:cNvPr id="9" name="Shape 9"/>
          <p:cNvSpPr/>
          <p:nvPr/>
        </p:nvSpPr>
        <p:spPr>
          <a:xfrm>
            <a:off x="1150000" y="2500000"/>
            <a:ext cx="2100000" cy="900000"/>
          </a:xfrm>
          <a:prstGeom prst="roundRect">
            <a:avLst/>
          </a:prstGeom>
          <a:noFill/>
          <a:ln w="34925">
            <a:solidFill>
              <a:srgbClr val="EF4444"/>
            </a:solidFill>
          </a:ln>
        </p:spPr>
        <p:txBody>
          <a:bodyPr wrap="square" anchor="mid" lIns="152400" tIns="91440" rIns="152400" bIns="91440"/>
          <a:lstStyle/>
          <a:p>
            <a:pPr algn="c"/>
            <a:r>
              <a:rPr lang="en-US" sz="1700" dirty="0" b="1">
                <a:solidFill>
                  <a:srgbClr val="EF4444"/>
                </a:solidFill>
                <a:latin typeface="Aptos"/>
              </a:rPr>
              <a:t>person #1</a:t>
            </a:r>
            <a:endParaRPr lang="en-US" sz="1700"/>
          </a:p>
          <a:p>
            <a:pPr algn="c"/>
            <a:r>
              <a:rPr lang="en-US" sz="1700" dirty="0" b="1">
                <a:solidFill>
                  <a:srgbClr val="EF4444"/>
                </a:solidFill>
                <a:latin typeface="Aptos"/>
              </a:rPr>
              <a:t>~0.9m</a:t>
            </a:r>
            <a:endParaRPr lang="en-US" sz="1700"/>
          </a:p>
        </p:txBody>
      </p:sp>
      <p:sp>
        <p:nvSpPr>
          <p:cNvPr id="10" name="Shape 10"/>
          <p:cNvSpPr/>
          <p:nvPr/>
        </p:nvSpPr>
        <p:spPr>
          <a:xfrm>
            <a:off x="3400000" y="3100000"/>
            <a:ext cx="1700000" cy="700000"/>
          </a:xfrm>
          <a:prstGeom prst="roundRect">
            <a:avLst/>
          </a:prstGeom>
          <a:noFill/>
          <a:ln w="28575">
            <a:solidFill>
              <a:srgbClr val="F59E0B"/>
            </a:solidFill>
          </a:ln>
        </p:spPr>
        <p:txBody>
          <a:bodyPr wrap="square" anchor="mid" lIns="152400" tIns="91440" rIns="152400" bIns="91440"/>
          <a:lstStyle/>
          <a:p>
            <a:pPr algn="c"/>
            <a:r>
              <a:rPr lang="en-US" sz="1500" dirty="0" b="1">
                <a:solidFill>
                  <a:srgbClr val="F59E0B"/>
                </a:solidFill>
                <a:latin typeface="Aptos"/>
              </a:rPr>
              <a:t>chair #2</a:t>
            </a:r>
            <a:endParaRPr lang="en-US" sz="1500"/>
          </a:p>
          <a:p>
            <a:pPr algn="c"/>
            <a:r>
              <a:rPr lang="en-US" sz="1500" dirty="0" b="1">
                <a:solidFill>
                  <a:srgbClr val="F59E0B"/>
                </a:solidFill>
                <a:latin typeface="Aptos"/>
              </a:rPr>
              <a:t>~2m</a:t>
            </a:r>
            <a:endParaRPr lang="en-US" sz="1500"/>
          </a:p>
        </p:txBody>
      </p:sp>
      <p:sp>
        <p:nvSpPr>
          <p:cNvPr id="11" name="Shape 11"/>
          <p:cNvSpPr/>
          <p:nvPr/>
        </p:nvSpPr>
        <p:spPr>
          <a:xfrm>
            <a:off x="1450000" y="4600000"/>
            <a:ext cx="4000000" cy="500000"/>
          </a:xfrm>
          <a:prstGeom prst="roundRect">
            <a:avLst/>
          </a:prstGeom>
          <a:solidFill>
            <a:srgbClr val="EF4444"/>
          </a:solidFill>
          <a:ln>
            <a:noFill/>
          </a:ln>
        </p:spPr>
        <p:txBody>
          <a:bodyPr wrap="square" anchor="mid" lIns="152400" tIns="91440" rIns="152400" bIns="91440"/>
          <a:lstStyle/>
          <a:p>
            <a:pPr algn="c"/>
            <a:r>
              <a:rPr lang="en-US" sz="1600" dirty="0" b="1">
                <a:solidFill>
                  <a:srgbClr val="FFFFFF"/>
                </a:solidFill>
                <a:latin typeface="Aptos"/>
              </a:rPr>
              <a:t>Warning: person approaching</a:t>
            </a:r>
            <a:endParaRPr lang="en-US" sz="1600"/>
          </a:p>
        </p:txBody>
      </p:sp>
      <p:sp>
        <p:nvSpPr>
          <p:cNvPr id="12" name="Shape 12"/>
          <p:cNvSpPr/>
          <p:nvPr/>
        </p:nvSpPr>
        <p:spPr>
          <a:xfrm>
            <a:off x="1450000" y="5250000"/>
            <a:ext cx="4000000" cy="500000"/>
          </a:xfrm>
          <a:prstGeom prst="roundRect">
            <a:avLst/>
          </a:prstGeom>
          <a:solidFill>
            <a:srgbClr val="14B8A6"/>
          </a:solidFill>
          <a:ln>
            <a:noFill/>
          </a:ln>
        </p:spPr>
        <p:txBody>
          <a:bodyPr wrap="square" anchor="mid" lIns="152400" tIns="91440" rIns="152400" bIns="91440"/>
          <a:lstStyle/>
          <a:p>
            <a:pPr algn="c"/>
            <a:r>
              <a:rPr lang="en-US" sz="1600" dirty="0" b="1">
                <a:solidFill>
                  <a:srgbClr val="FFFFFF"/>
                </a:solidFill>
                <a:latin typeface="Aptos"/>
              </a:rPr>
              <a:t>Voice Eye, describe  -&gt;  Got it</a:t>
            </a:r>
            <a:endParaRPr lang="en-US" sz="1600"/>
          </a:p>
        </p:txBody>
      </p:sp>
      <p:sp>
        <p:nvSpPr>
          <p:cNvPr id="13" name="Shape 13"/>
          <p:cNvSpPr/>
          <p:nvPr/>
        </p:nvSpPr>
        <p:spPr>
          <a:xfrm>
            <a:off x="6500000" y="1500000"/>
            <a:ext cx="6000000" cy="600000"/>
          </a:xfrm>
          <a:prstGeom prst="roundRect">
            <a:avLst/>
          </a:prstGeom>
          <a:solidFill>
            <a:srgbClr val="F1F5F9"/>
          </a:solidFill>
          <a:ln w="12700">
            <a:solidFill>
              <a:srgbClr val="0F172A"/>
            </a:solidFill>
          </a:ln>
        </p:spPr>
        <p:txBody>
          <a:bodyPr wrap="square" anchor="mid" lIns="152400" tIns="91440" rIns="152400" bIns="91440"/>
          <a:lstStyle/>
          <a:p>
            <a:pPr algn="c"/>
            <a:r>
              <a:rPr lang="en-US" sz="2000" dirty="0" b="1">
                <a:solidFill>
                  <a:srgbClr val="0F172A"/>
                </a:solidFill>
                <a:latin typeface="Aptos"/>
              </a:rPr>
              <a:t>Demo sequence (~3 minutes)</a:t>
            </a:r>
            <a:endParaRPr lang="en-US" sz="2000"/>
          </a:p>
        </p:txBody>
      </p:sp>
      <p:sp>
        <p:nvSpPr>
          <p:cNvPr id="14" name="Shape 14"/>
          <p:cNvSpPr/>
          <p:nvPr/>
        </p:nvSpPr>
        <p:spPr>
          <a:xfrm>
            <a:off x="6500000" y="2200000"/>
            <a:ext cx="6000000" cy="3800000"/>
          </a:xfrm>
          <a:prstGeom prst="roundRect">
            <a:avLst/>
          </a:prstGeom>
          <a:solidFill>
            <a:srgbClr val="FFFFFF"/>
          </a:solidFill>
          <a:ln w="12700">
            <a:solidFill>
              <a:srgbClr val="CBD5E1"/>
            </a:solidFill>
          </a:ln>
        </p:spPr>
        <p:txBody>
          <a:bodyPr wrap="square" anchor="mid" lIns="152400" tIns="91440" rIns="152400" bIns="91440"/>
          <a:lstStyle/>
          <a:p>
            <a:pPr algn="l"/>
            <a:r>
              <a:rPr lang="en-US" sz="1900" dirty="0">
                <a:solidFill>
                  <a:srgbClr val="0F172A"/>
                </a:solidFill>
                <a:latin typeface="Aptos"/>
              </a:rPr>
              <a:t>1. Start app — camera, bounding boxes, proximity colors</a:t>
            </a:r>
            <a:endParaRPr lang="en-US" sz="1900"/>
          </a:p>
          <a:p>
            <a:pPr algn="l"/>
            <a:r>
              <a:rPr lang="en-US" sz="1900" dirty="0">
                <a:solidFill>
                  <a:srgbClr val="0F172A"/>
                </a:solidFill>
                <a:latin typeface="Aptos"/>
              </a:rPr>
              <a:t>2. Walk toward object — show approaching alert + haptic</a:t>
            </a:r>
            <a:endParaRPr lang="en-US" sz="1900"/>
          </a:p>
          <a:p>
            <a:pPr algn="l"/>
            <a:r>
              <a:rPr lang="en-US" sz="1900" dirty="0">
                <a:solidFill>
                  <a:srgbClr val="0F172A"/>
                </a:solidFill>
                <a:latin typeface="Aptos"/>
              </a:rPr>
              <a:t>3. Say  "Voice Eye, describe"  — scene summary</a:t>
            </a:r>
            <a:endParaRPr lang="en-US" sz="1900"/>
          </a:p>
          <a:p>
            <a:pPr algn="l"/>
            <a:r>
              <a:rPr lang="en-US" sz="1900" dirty="0">
                <a:solidFill>
                  <a:srgbClr val="0F172A"/>
                </a:solidFill>
                <a:latin typeface="Aptos"/>
              </a:rPr>
              <a:t>4. Say  "Voice Eye, read"  — OCR on visible text</a:t>
            </a:r>
            <a:endParaRPr lang="en-US" sz="1900"/>
          </a:p>
          <a:p>
            <a:pPr algn="l"/>
            <a:r>
              <a:rPr lang="en-US" sz="1900" dirty="0">
                <a:solidFill>
                  <a:srgbClr val="0F172A"/>
                </a:solidFill>
                <a:latin typeface="Aptos"/>
              </a:rPr>
              <a:t>5. Say  "Voice Eye, find [object]"  — targeted search</a:t>
            </a:r>
            <a:endParaRPr lang="en-US" sz="1900"/>
          </a:p>
          <a:p>
            <a:pPr algn="l"/>
            <a:r>
              <a:rPr lang="en-US" sz="1900" dirty="0">
                <a:solidFill>
                  <a:srgbClr val="0F172A"/>
                </a:solidFill>
                <a:latin typeface="Aptos"/>
              </a:rPr>
              <a:t>6. Open Settings — change verbosity, show it take effect</a:t>
            </a:r>
            <a:endParaRPr lang="en-US" sz="1900"/>
          </a:p>
        </p:txBody>
      </p:sp>
      <p:sp>
        <p:nvSpPr>
          <p:cNvPr id="15" name="Shape 15"/>
          <p:cNvSpPr/>
          <p:nvPr/>
        </p:nvSpPr>
        <p:spPr>
          <a:xfrm>
            <a:off x="6500000" y="6150000"/>
            <a:ext cx="6000000" cy="500000"/>
          </a:xfrm>
          <a:prstGeom prst="roundRect">
            <a:avLst/>
          </a:prstGeom>
          <a:solidFill>
            <a:srgbClr val="FEF3C7"/>
          </a:solidFill>
          <a:ln w="12700">
            <a:solidFill>
              <a:srgbClr val="F59E0B"/>
            </a:solidFill>
          </a:ln>
        </p:spPr>
        <p:txBody>
          <a:bodyPr wrap="square" anchor="mid" lIns="152400" tIns="91440" rIns="152400" bIns="91440"/>
          <a:lstStyle/>
          <a:p>
            <a:pPr algn="c"/>
            <a:r>
              <a:rPr lang="en-US" sz="1500" dirty="0" b="1">
                <a:solidFill>
                  <a:srgbClr val="92400E"/>
                </a:solidFill>
                <a:latin typeface="Aptos"/>
              </a:rPr>
              <a:t>Backup plan: if VLM fails live, narrate the UI flow and show the timeout/error handling.</a:t>
            </a:r>
            <a:endParaRPr lang="en-US" sz="15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3333333" cy="7500000"/>
          </a:xfrm>
          <a:prstGeom prst="rect">
            <a:avLst/>
          </a:prstGeom>
          <a:solidFill>
            <a:srgbClr val="F8FAFC"/>
          </a:solidFill>
          <a:ln>
            <a:noFill/>
          </a:ln>
        </p:spPr>
      </p:sp>
      <p:sp>
        <p:nvSpPr>
          <p:cNvPr id="3" name="Shape 3"/>
          <p:cNvSpPr/>
          <p:nvPr/>
        </p:nvSpPr>
        <p:spPr>
          <a:xfrm>
            <a:off x="0" y="0"/>
            <a:ext cx="145000" cy="7500000"/>
          </a:xfrm>
          <a:prstGeom prst="rect">
            <a:avLst/>
          </a:prstGeom>
          <a:solidFill>
            <a:srgbClr val="0EA5A4"/>
          </a:solidFill>
          <a:ln>
            <a:noFill/>
          </a:ln>
        </p:spPr>
      </p:sp>
      <p:sp>
        <p:nvSpPr>
          <p:cNvPr id="4" name="Shape 4"/>
          <p:cNvSpPr/>
          <p:nvPr/>
        </p:nvSpPr>
        <p:spPr>
          <a:xfrm>
            <a:off x="380000" y="260000"/>
            <a:ext cx="8500000" cy="600000"/>
          </a:xfrm>
          <a:prstGeom prst="rect">
            <a:avLst/>
          </a:prstGeom>
          <a:noFill/>
          <a:ln>
            <a:noFill/>
          </a:ln>
        </p:spPr>
        <p:txBody>
          <a:bodyPr wrap="square" anchor="mid" lIns="152400" tIns="91440" rIns="152400" bIns="91440"/>
          <a:lstStyle/>
          <a:p>
            <a:pPr algn="l"/>
            <a:r>
              <a:rPr lang="en-US" sz="3300" dirty="0" b="1">
                <a:solidFill>
                  <a:srgbClr val="0F172A"/>
                </a:solidFill>
                <a:latin typeface="Aptos"/>
              </a:rPr>
              <a:t>Thank You</a:t>
            </a:r>
            <a:endParaRPr lang="en-US" sz="3300"/>
          </a:p>
        </p:txBody>
      </p:sp>
      <p:sp>
        <p:nvSpPr>
          <p:cNvPr id="5" name="Shape 5"/>
          <p:cNvSpPr/>
          <p:nvPr/>
        </p:nvSpPr>
        <p:spPr>
          <a:xfrm>
            <a:off x="400000" y="850000"/>
            <a:ext cx="7600000" cy="380000"/>
          </a:xfrm>
          <a:prstGeom prst="rect">
            <a:avLst/>
          </a:prstGeom>
          <a:noFill/>
          <a:ln>
            <a:noFill/>
          </a:ln>
        </p:spPr>
        <p:txBody>
          <a:bodyPr wrap="square" anchor="mid" lIns="152400" tIns="91440" rIns="152400" bIns="91440"/>
          <a:lstStyle/>
          <a:p>
            <a:pPr algn="l"/>
            <a:r>
              <a:rPr lang="en-US" sz="1850" dirty="0">
                <a:solidFill>
                  <a:srgbClr val="475569"/>
                </a:solidFill>
                <a:latin typeface="Aptos"/>
              </a:rPr>
              <a:t>Questions, feedback, and ideas welcome.</a:t>
            </a:r>
            <a:endParaRPr lang="en-US" sz="1850"/>
          </a:p>
        </p:txBody>
      </p:sp>
      <p:sp>
        <p:nvSpPr>
          <p:cNvPr id="6" name="Shape 6"/>
          <p:cNvSpPr/>
          <p:nvPr/>
        </p:nvSpPr>
        <p:spPr>
          <a:xfrm>
            <a:off x="400000" y="7130000"/>
            <a:ext cx="5200000" cy="210000"/>
          </a:xfrm>
          <a:prstGeom prst="rect">
            <a:avLst/>
          </a:prstGeom>
          <a:noFill/>
          <a:ln>
            <a:noFill/>
          </a:ln>
        </p:spPr>
        <p:txBody>
          <a:bodyPr wrap="square" anchor="mid" lIns="152400" tIns="91440" rIns="152400" bIns="91440"/>
          <a:lstStyle/>
          <a:p>
            <a:pPr algn="l"/>
            <a:r>
              <a:rPr lang="en-US" sz="1050" dirty="0">
                <a:solidFill>
                  <a:srgbClr val="64748B"/>
                </a:solidFill>
                <a:latin typeface="Aptos"/>
              </a:rPr>
              <a:t>VoiceEye | Sprint 2 Demo</a:t>
            </a:r>
            <a:endParaRPr lang="en-US" sz="1050"/>
          </a:p>
        </p:txBody>
      </p:sp>
      <p:sp>
        <p:nvSpPr>
          <p:cNvPr id="7" name="Shape 7"/>
          <p:cNvSpPr/>
          <p:nvPr/>
        </p:nvSpPr>
        <p:spPr>
          <a:xfrm>
            <a:off x="800000" y="1650000"/>
            <a:ext cx="11700000" cy="1700000"/>
          </a:xfrm>
          <a:prstGeom prst="roundRect">
            <a:avLst/>
          </a:prstGeom>
          <a:solidFill>
            <a:srgbClr val="0F172A"/>
          </a:solidFill>
          <a:ln>
            <a:noFill/>
          </a:ln>
        </p:spPr>
        <p:txBody>
          <a:bodyPr wrap="square" anchor="mid" lIns="152400" tIns="91440" rIns="152400" bIns="91440"/>
          <a:lstStyle/>
          <a:p>
            <a:pPr algn="c"/>
            <a:r>
              <a:rPr lang="en-US" sz="7200" dirty="0" b="1">
                <a:solidFill>
                  <a:srgbClr val="F8FAFC"/>
                </a:solidFill>
                <a:latin typeface="Aptos"/>
              </a:rPr>
              <a:t>VoiceEye</a:t>
            </a:r>
            <a:endParaRPr lang="en-US" sz="7200"/>
          </a:p>
        </p:txBody>
      </p:sp>
      <p:sp>
        <p:nvSpPr>
          <p:cNvPr id="8" name="Shape 8"/>
          <p:cNvSpPr/>
          <p:nvPr/>
        </p:nvSpPr>
        <p:spPr>
          <a:xfrm>
            <a:off x="800000" y="3500000"/>
            <a:ext cx="11700000" cy="600000"/>
          </a:xfrm>
          <a:prstGeom prst="roundRect">
            <a:avLst/>
          </a:prstGeom>
          <a:solidFill>
            <a:srgbClr val="FFFFFF"/>
          </a:solidFill>
          <a:ln w="12700">
            <a:solidFill>
              <a:srgbClr val="CBD5E1"/>
            </a:solidFill>
          </a:ln>
        </p:spPr>
        <p:txBody>
          <a:bodyPr wrap="square" anchor="mid" lIns="152400" tIns="91440" rIns="152400" bIns="91440"/>
          <a:lstStyle/>
          <a:p>
            <a:pPr algn="c"/>
            <a:r>
              <a:rPr lang="en-US" sz="2300" dirty="0" b="1">
                <a:solidFill>
                  <a:srgbClr val="0F172A"/>
                </a:solidFill>
                <a:latin typeface="Aptos"/>
              </a:rPr>
              <a:t>Real-time spatial awareness that stays on the device.</a:t>
            </a:r>
            <a:endParaRPr lang="en-US" sz="2300"/>
          </a:p>
        </p:txBody>
      </p:sp>
      <p:sp>
        <p:nvSpPr>
          <p:cNvPr id="9" name="Shape 9"/>
          <p:cNvSpPr/>
          <p:nvPr/>
        </p:nvSpPr>
        <p:spPr>
          <a:xfrm>
            <a:off x="1800000" y="4550000"/>
            <a:ext cx="3100000" cy="900000"/>
          </a:xfrm>
          <a:prstGeom prst="roundRect">
            <a:avLst/>
          </a:prstGeom>
          <a:solidFill>
            <a:srgbClr val="E0F2FE"/>
          </a:solidFill>
          <a:ln w="12700">
            <a:solidFill>
              <a:srgbClr val="0284C7"/>
            </a:solidFill>
          </a:ln>
        </p:spPr>
        <p:txBody>
          <a:bodyPr wrap="square" anchor="mid" lIns="152400" tIns="91440" rIns="152400" bIns="91440"/>
          <a:lstStyle/>
          <a:p>
            <a:pPr algn="c"/>
            <a:r>
              <a:rPr lang="en-US" sz="1800" dirty="0" b="1">
                <a:solidFill>
                  <a:srgbClr val="0F172A"/>
                </a:solidFill>
                <a:latin typeface="Aptos"/>
              </a:rPr>
              <a:t>github.com/</a:t>
            </a:r>
            <a:endParaRPr lang="en-US" sz="1800"/>
          </a:p>
          <a:p>
            <a:pPr algn="c"/>
            <a:r>
              <a:rPr lang="en-US" sz="1800" dirty="0" b="1">
                <a:solidFill>
                  <a:srgbClr val="0F172A"/>
                </a:solidFill>
                <a:latin typeface="Aptos"/>
              </a:rPr>
              <a:t>VoiceEye</a:t>
            </a:r>
            <a:endParaRPr lang="en-US" sz="1800"/>
          </a:p>
        </p:txBody>
      </p:sp>
      <p:sp>
        <p:nvSpPr>
          <p:cNvPr id="10" name="Shape 10"/>
          <p:cNvSpPr/>
          <p:nvPr/>
        </p:nvSpPr>
        <p:spPr>
          <a:xfrm>
            <a:off x="5150000" y="4550000"/>
            <a:ext cx="3100000" cy="900000"/>
          </a:xfrm>
          <a:prstGeom prst="roundRect">
            <a:avLst/>
          </a:prstGeom>
          <a:solidFill>
            <a:srgbClr val="DCFCE7"/>
          </a:solidFill>
          <a:ln w="12700">
            <a:solidFill>
              <a:srgbClr val="16A34A"/>
            </a:solidFill>
          </a:ln>
        </p:spPr>
        <p:txBody>
          <a:bodyPr wrap="square" anchor="mid" lIns="152400" tIns="91440" rIns="152400" bIns="91440"/>
          <a:lstStyle/>
          <a:p>
            <a:pPr algn="c"/>
            <a:r>
              <a:rPr lang="en-US" sz="1800" dirty="0" b="1">
                <a:solidFill>
                  <a:srgbClr val="0F172A"/>
                </a:solidFill>
                <a:latin typeface="Aptos"/>
              </a:rPr>
              <a:t>voiceeye.</a:t>
            </a:r>
            <a:endParaRPr lang="en-US" sz="1800"/>
          </a:p>
          <a:p>
            <a:pPr algn="c"/>
            <a:r>
              <a:rPr lang="en-US" sz="1800" dirty="0" b="1">
                <a:solidFill>
                  <a:srgbClr val="0F172A"/>
                </a:solidFill>
                <a:latin typeface="Aptos"/>
              </a:rPr>
              <a:t>pages.dev</a:t>
            </a:r>
            <a:endParaRPr lang="en-US" sz="1800"/>
          </a:p>
        </p:txBody>
      </p:sp>
      <p:sp>
        <p:nvSpPr>
          <p:cNvPr id="11" name="Shape 11"/>
          <p:cNvSpPr/>
          <p:nvPr/>
        </p:nvSpPr>
        <p:spPr>
          <a:xfrm>
            <a:off x="8500000" y="4550000"/>
            <a:ext cx="3100000" cy="900000"/>
          </a:xfrm>
          <a:prstGeom prst="roundRect">
            <a:avLst/>
          </a:prstGeom>
          <a:solidFill>
            <a:srgbClr val="FEF3C7"/>
          </a:solidFill>
          <a:ln w="12700">
            <a:solidFill>
              <a:srgbClr val="F59E0B"/>
            </a:solidFill>
          </a:ln>
        </p:spPr>
        <p:txBody>
          <a:bodyPr wrap="square" anchor="mid" lIns="152400" tIns="91440" rIns="152400" bIns="91440"/>
          <a:lstStyle/>
          <a:p>
            <a:pPr algn="c"/>
            <a:r>
              <a:rPr lang="en-US" sz="2400" dirty="0" b="1">
                <a:solidFill>
                  <a:srgbClr val="0F172A"/>
                </a:solidFill>
                <a:latin typeface="Aptos"/>
              </a:rPr>
              <a:t>Q &amp; A</a:t>
            </a:r>
            <a:endParaRPr lang="en-US" sz="2400"/>
          </a:p>
        </p:txBody>
      </p:sp>
    </p:spTree>
  </p:cSld>
  <p:clrMapOvr>
    <a:masterClrMapping/>
  </p:clrMapOvr>
</p:sld>
</file>

<file path=ppt/theme/theme1.xml><?xml version="1.0" encoding="utf-8"?>
<a:theme xmlns:a="http://schemas.openxmlformats.org/drawingml/2006/main" name="VoiceEye">
  <a:themeElements>
    <a:clrScheme name="VoiceEye">
      <a:dk1>
        <a:srgbClr val="0F172A"/>
      </a:dk1>
      <a:lt1>
        <a:srgbClr val="F8FAFC"/>
      </a:lt1>
      <a:dk2>
        <a:srgbClr val="334155"/>
      </a:dk2>
      <a:lt2>
        <a:srgbClr val="E2E8F0"/>
      </a:lt2>
      <a:accent1>
        <a:srgbClr val="0EA5A4"/>
      </a:accent1>
      <a:accent2>
        <a:srgbClr val="2563EB"/>
      </a:accent2>
      <a:accent3>
        <a:srgbClr val="EA580C"/>
      </a:accent3>
      <a:accent4>
        <a:srgbClr val="7C3AED"/>
      </a:accent4>
      <a:accent5>
        <a:srgbClr val="16A34A"/>
      </a:accent5>
      <a:accent6>
        <a:srgbClr val="DB2777"/>
      </a:accent6>
      <a:hlink>
        <a:srgbClr val="2563EB"/>
      </a:hlink>
      <a:folHlink>
        <a:srgbClr val="7C3AED"/>
      </a:folHlink>
    </a:clrScheme>
    <a:fontScheme name="VoiceEye">
      <a:majorFont>
        <a:latin typeface="Aptos Display"/>
      </a:majorFont>
      <a:minorFont>
        <a:latin typeface="Aptos"/>
      </a:minorFont>
    </a:fontScheme>
    <a:fmtScheme name="VoiceEy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PowerPoint</Application>
  <PresentationFormat>On-screen Show (16:9)</PresentationFormat>
  <Slides>13</Slides>
</Properties>
</file>

<file path=docProps/core.xml><?xml version="1.0" encoding="utf-8"?>
<cp:coreProperties xmlns:cp="http://schemas.openxmlformats.org/package/2006/metadata/core-properties" xmlns:dc="http://purl.org/dc/elements/1.1/" xmlns:dcterms="http://purl.org/dc/terms/" xmlns:xsi="http://www.w3.org/2001/XMLSchema-instance">
  <dc:title>VoiceEye Demo Deck Sprint 2</dc:title>
  <dc:creator>Codex</dc:creator>
  <cp:lastModifiedBy>Codex</cp:lastModifiedBy>
  <dcterms:created xsi:type="dcterms:W3CDTF">2026-04-24T00:00:00Z</dcterms:created>
  <dcterms:modified xsi:type="dcterms:W3CDTF">2026-04-24T00:00:00Z</dcterms:modified>
</cp:coreProperties>
</file>